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65" r:id="rId3"/>
    <p:sldId id="264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9BD637-D97B-7137-D927-66158AF2C2C0}" v="32" dt="2026-03-10T06:20:18.824"/>
    <p1510:client id="{058DF0C4-19A7-1147-3EB4-D94B08EE0B37}" v="369" dt="2026-03-10T13:39:05.527"/>
    <p1510:client id="{1F952AE0-4CB7-2FD9-BCCC-869022B15CCD}" v="294" dt="2026-03-10T07:31:16.515"/>
    <p1510:client id="{259FC28B-C1C6-1CDF-912F-DBB419CB84D2}" v="116" dt="2026-03-10T13:39:27.078"/>
    <p1510:client id="{A93957F0-DCE7-0F68-7FE8-A25AC6DD9109}" v="262" dt="2026-03-10T15:15:38.6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376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3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1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65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73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8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86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95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86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46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9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89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88" r:id="rId6"/>
    <p:sldLayoutId id="2147483684" r:id="rId7"/>
    <p:sldLayoutId id="2147483685" r:id="rId8"/>
    <p:sldLayoutId id="2147483686" r:id="rId9"/>
    <p:sldLayoutId id="2147483687" r:id="rId10"/>
    <p:sldLayoutId id="214748368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EDBC09E-10FE-C48A-8AE5-2DE3D7D70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2108" y="1411048"/>
            <a:ext cx="6919654" cy="127585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4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Machine Learning Applications</a:t>
            </a:r>
            <a:br>
              <a:rPr lang="en-US" sz="4000">
                <a:latin typeface="Calibri"/>
                <a:ea typeface="Calibri"/>
                <a:cs typeface="Calibri"/>
              </a:rPr>
            </a:br>
            <a:r>
              <a:rPr lang="en-US" sz="4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 in Financial Leasing</a:t>
            </a:r>
            <a:endParaRPr lang="en-US" sz="4000" b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endParaRPr lang="en-US" sz="5400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8B09CB6-CBCC-A221-E35E-4FA215926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1696" y="4617503"/>
            <a:ext cx="6071583" cy="45719"/>
          </a:xfrm>
          <a:custGeom>
            <a:avLst/>
            <a:gdLst>
              <a:gd name="connsiteX0" fmla="*/ 0 w 6071583"/>
              <a:gd name="connsiteY0" fmla="*/ 0 h 45719"/>
              <a:gd name="connsiteX1" fmla="*/ 3434358 w 6071583"/>
              <a:gd name="connsiteY1" fmla="*/ 0 h 45719"/>
              <a:gd name="connsiteX2" fmla="*/ 4667593 w 6071583"/>
              <a:gd name="connsiteY2" fmla="*/ 0 h 45719"/>
              <a:gd name="connsiteX3" fmla="*/ 6071583 w 6071583"/>
              <a:gd name="connsiteY3" fmla="*/ 0 h 45719"/>
              <a:gd name="connsiteX4" fmla="*/ 6071583 w 6071583"/>
              <a:gd name="connsiteY4" fmla="*/ 45719 h 45719"/>
              <a:gd name="connsiteX5" fmla="*/ 4667593 w 6071583"/>
              <a:gd name="connsiteY5" fmla="*/ 45719 h 45719"/>
              <a:gd name="connsiteX6" fmla="*/ 3434358 w 6071583"/>
              <a:gd name="connsiteY6" fmla="*/ 45719 h 45719"/>
              <a:gd name="connsiteX7" fmla="*/ 0 w 6071583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71583" h="45719">
                <a:moveTo>
                  <a:pt x="0" y="0"/>
                </a:moveTo>
                <a:lnTo>
                  <a:pt x="3434358" y="0"/>
                </a:lnTo>
                <a:lnTo>
                  <a:pt x="4667593" y="0"/>
                </a:lnTo>
                <a:lnTo>
                  <a:pt x="6071583" y="0"/>
                </a:lnTo>
                <a:lnTo>
                  <a:pt x="6071583" y="45719"/>
                </a:lnTo>
                <a:lnTo>
                  <a:pt x="4667593" y="45719"/>
                </a:lnTo>
                <a:lnTo>
                  <a:pt x="3434358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/>
        </p:nvSpPr>
        <p:spPr>
          <a:xfrm>
            <a:off x="2065637" y="3431059"/>
            <a:ext cx="85344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chemeClr val="bg2"/>
                </a:solidFill>
                <a:ea typeface="Cambria"/>
              </a:rPr>
              <a:t>25-26J-179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FF0D-54AE-9E2F-572F-4692C639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Our Team Members</a:t>
            </a:r>
            <a:endParaRPr lang="en-US">
              <a:solidFill>
                <a:srgbClr val="FFFFFF"/>
              </a:solidFill>
            </a:endParaRPr>
          </a:p>
        </p:txBody>
      </p:sp>
      <p:pic>
        <p:nvPicPr>
          <p:cNvPr id="4" name="Content Placeholder 3" descr="A person with a beard&#10;&#10;AI-generated content may be incorrect.">
            <a:extLst>
              <a:ext uri="{FF2B5EF4-FFF2-40B4-BE49-F238E27FC236}">
                <a16:creationId xmlns:a16="http://schemas.microsoft.com/office/drawing/2014/main" id="{A91CF485-3081-3D69-4465-4E7B89893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5089" y="2512463"/>
            <a:ext cx="1438275" cy="1819275"/>
          </a:xfrm>
          <a:prstGeom prst="rect">
            <a:avLst/>
          </a:prstGeom>
        </p:spPr>
      </p:pic>
      <p:pic>
        <p:nvPicPr>
          <p:cNvPr id="5" name="Picture 4" descr="A person with long hair smiling&#10;&#10;AI-generated content may be incorrect.">
            <a:extLst>
              <a:ext uri="{FF2B5EF4-FFF2-40B4-BE49-F238E27FC236}">
                <a16:creationId xmlns:a16="http://schemas.microsoft.com/office/drawing/2014/main" id="{5692152C-BBBA-369D-10B0-4E3A00279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705" y="2509599"/>
            <a:ext cx="1619250" cy="1828800"/>
          </a:xfrm>
          <a:prstGeom prst="rect">
            <a:avLst/>
          </a:prstGeom>
        </p:spPr>
      </p:pic>
      <p:pic>
        <p:nvPicPr>
          <p:cNvPr id="6" name="Picture 5" descr="A person smiling at camera&#10;&#10;AI-generated content may be incorrect.">
            <a:extLst>
              <a:ext uri="{FF2B5EF4-FFF2-40B4-BE49-F238E27FC236}">
                <a16:creationId xmlns:a16="http://schemas.microsoft.com/office/drawing/2014/main" id="{FF276B6E-53D0-779A-DDFC-4A34560DD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361" y="2509599"/>
            <a:ext cx="1647825" cy="1828800"/>
          </a:xfrm>
          <a:prstGeom prst="rect">
            <a:avLst/>
          </a:prstGeom>
        </p:spPr>
      </p:pic>
      <p:pic>
        <p:nvPicPr>
          <p:cNvPr id="7" name="Picture 6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FDD91BCB-3170-E368-14C1-432D98CF4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0129" y="2514362"/>
            <a:ext cx="1329007" cy="1819275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D80EFF0B-0036-4282-D4A7-3CBDF2353529}"/>
              </a:ext>
            </a:extLst>
          </p:cNvPr>
          <p:cNvSpPr txBox="1"/>
          <p:nvPr/>
        </p:nvSpPr>
        <p:spPr>
          <a:xfrm>
            <a:off x="850312" y="4666083"/>
            <a:ext cx="2733356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FFFF"/>
                </a:solidFill>
                <a:ea typeface="Cambria"/>
              </a:rPr>
              <a:t>IT22198518</a:t>
            </a:r>
          </a:p>
          <a:p>
            <a:pPr algn="ctr"/>
            <a:r>
              <a:rPr lang="en-US" err="1">
                <a:solidFill>
                  <a:srgbClr val="FFFFFF"/>
                </a:solidFill>
                <a:ea typeface="Cambria"/>
              </a:rPr>
              <a:t>Semasingha</a:t>
            </a:r>
            <a:r>
              <a:rPr lang="en-US">
                <a:solidFill>
                  <a:srgbClr val="FFFFFF"/>
                </a:solidFill>
                <a:ea typeface="Cambria"/>
              </a:rPr>
              <a:t> W A L D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399B7A3B-338D-E5DB-A86E-7CD1E16FD09A}"/>
              </a:ext>
            </a:extLst>
          </p:cNvPr>
          <p:cNvSpPr txBox="1"/>
          <p:nvPr/>
        </p:nvSpPr>
        <p:spPr>
          <a:xfrm>
            <a:off x="3740161" y="4666082"/>
            <a:ext cx="2230149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FFFF"/>
                </a:solidFill>
                <a:ea typeface="Cambria"/>
              </a:rPr>
              <a:t>IT22129130</a:t>
            </a:r>
            <a:endParaRPr lang="en-US">
              <a:solidFill>
                <a:srgbClr val="FFFFFF"/>
              </a:solidFill>
            </a:endParaRPr>
          </a:p>
          <a:p>
            <a:r>
              <a:rPr lang="en-US" err="1">
                <a:solidFill>
                  <a:srgbClr val="FFFFFF"/>
                </a:solidFill>
                <a:ea typeface="Cambria"/>
              </a:rPr>
              <a:t>Maharambage</a:t>
            </a:r>
            <a:r>
              <a:rPr lang="en-US">
                <a:solidFill>
                  <a:srgbClr val="FFFFFF"/>
                </a:solidFill>
                <a:ea typeface="Cambria"/>
              </a:rPr>
              <a:t> K N</a:t>
            </a:r>
          </a:p>
          <a:p>
            <a:pPr algn="ctr"/>
            <a:endParaRPr lang="en-US">
              <a:solidFill>
                <a:srgbClr val="FFFFFF"/>
              </a:solidFill>
              <a:ea typeface="Cambria"/>
            </a:endParaRP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DD7E849B-6C09-28D6-1D14-92AA0BAA0498}"/>
              </a:ext>
            </a:extLst>
          </p:cNvPr>
          <p:cNvSpPr txBox="1"/>
          <p:nvPr/>
        </p:nvSpPr>
        <p:spPr>
          <a:xfrm>
            <a:off x="6256199" y="4666083"/>
            <a:ext cx="1985734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FFFF"/>
                </a:solidFill>
                <a:ea typeface="Cambria"/>
              </a:rPr>
              <a:t>IT22087560</a:t>
            </a:r>
          </a:p>
          <a:p>
            <a:pPr algn="ctr"/>
            <a:r>
              <a:rPr lang="en-US">
                <a:solidFill>
                  <a:srgbClr val="FFFFFF"/>
                </a:solidFill>
                <a:ea typeface="Cambria"/>
              </a:rPr>
              <a:t>Weerasinghe M P</a:t>
            </a:r>
          </a:p>
          <a:p>
            <a:pPr algn="ctr"/>
            <a:endParaRPr lang="en-US">
              <a:solidFill>
                <a:srgbClr val="FFFFFF"/>
              </a:solidFill>
              <a:ea typeface="Cambria"/>
            </a:endParaRP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20F2FA62-2496-6035-834E-DDB2B932CA0A}"/>
              </a:ext>
            </a:extLst>
          </p:cNvPr>
          <p:cNvSpPr txBox="1"/>
          <p:nvPr/>
        </p:nvSpPr>
        <p:spPr>
          <a:xfrm>
            <a:off x="8800991" y="4666082"/>
            <a:ext cx="1985734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rgbClr val="FFFFFF"/>
                </a:solidFill>
                <a:ea typeface="Cambria"/>
              </a:rPr>
              <a:t>IT22583796</a:t>
            </a:r>
          </a:p>
          <a:p>
            <a:pPr algn="ctr"/>
            <a:r>
              <a:rPr lang="en-US">
                <a:solidFill>
                  <a:srgbClr val="FFFFFF"/>
                </a:solidFill>
                <a:ea typeface="Cambria"/>
              </a:rPr>
              <a:t>Erangi M G M</a:t>
            </a:r>
          </a:p>
        </p:txBody>
      </p:sp>
      <p:pic>
        <p:nvPicPr>
          <p:cNvPr id="15" name="Picture 14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9F968A46-C1C7-1765-E46A-32330EA8AB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6731" y="5310702"/>
            <a:ext cx="1698025" cy="172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495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Untitled design">
            <a:hlinkClick r:id="" action="ppaction://media"/>
            <a:extLst>
              <a:ext uri="{FF2B5EF4-FFF2-40B4-BE49-F238E27FC236}">
                <a16:creationId xmlns:a16="http://schemas.microsoft.com/office/drawing/2014/main" id="{298B5FA7-D031-3BDE-7B25-9D1D9C930A0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1266" y="630374"/>
            <a:ext cx="9971344" cy="5603085"/>
          </a:xfrm>
          <a:prstGeom prst="rect">
            <a:avLst/>
          </a:prstGeom>
        </p:spPr>
      </p:pic>
      <p:pic>
        <p:nvPicPr>
          <p:cNvPr id="2" name="Picture 1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3859F947-1BA0-2D87-77B4-6BE76DFBF6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737" y="5425316"/>
            <a:ext cx="17907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79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EC9CE-DFF6-7F8D-B305-537ABF240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Problem Statement &amp; 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723AF-7574-9CB0-1C78-BA41A3528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974759"/>
            <a:ext cx="11155680" cy="39111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Stakeholders</a:t>
            </a:r>
            <a:endParaRPr lang="en-US" sz="240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Leasing Customers, Admins(Company Staff), Users</a:t>
            </a:r>
            <a:endParaRPr lang="en-US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Problem &amp; Impact</a:t>
            </a:r>
            <a:endParaRPr lang="en-US" sz="24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Manual, rule-based leasing processes are </a:t>
            </a: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slow, error-prone, and hard to scale 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across risk, impairment, performance, and customer operations</a:t>
            </a: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Machine learning provides </a:t>
            </a: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accurate impairment and default risk predictions 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from large historical datasets for </a:t>
            </a: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faster, reliable decisions</a:t>
            </a:r>
            <a:endParaRPr lang="en-US" sz="20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ct val="20000"/>
              </a:spcBef>
            </a:pP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AI-driven analytics and automation </a:t>
            </a: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reduce workload, improve branch insights, and boost overall efficiency</a:t>
            </a:r>
            <a:r>
              <a:rPr lang="en-US" sz="2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pic>
        <p:nvPicPr>
          <p:cNvPr id="4" name="Picture 3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E396DB9B-142C-5066-1A09-B6595D730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128" y="5193403"/>
            <a:ext cx="17907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587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AA6C7-A1FC-89EC-6376-AABA8D923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Research Gap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77CA-219D-612A-D2D6-48DF56636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05653"/>
            <a:ext cx="1115568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Research Gap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Existing leasing systems depend on manual and rule-based processes, while current research primarily focuses on predictive models rather than integrated AI and Machine Learning solutions for risk assessment, impairment prediction, and customer cares.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Main Objectives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Impairment Estimation, Default Risk Prediction, Branch Performance Analysis, AI Chatbot for Customer Inquiries in Financial Leasing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1CEB6E47-909D-578C-74F3-C2EEFC8DC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693" y="5303838"/>
            <a:ext cx="17907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58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EB27D-C484-FDCB-0138-A5585C8D4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80234"/>
            <a:ext cx="11155680" cy="712414"/>
          </a:xfrm>
        </p:spPr>
        <p:txBody>
          <a:bodyPr>
            <a:normAutofit fontScale="90000"/>
          </a:bodyPr>
          <a:lstStyle/>
          <a:p>
            <a:r>
              <a:rPr lang="en-US">
                <a:solidFill>
                  <a:schemeClr val="bg1"/>
                </a:solidFill>
              </a:rPr>
              <a:t>Solution </a:t>
            </a:r>
            <a:r>
              <a:rPr lang="en-US" err="1">
                <a:solidFill>
                  <a:schemeClr val="bg1"/>
                </a:solidFill>
              </a:rPr>
              <a:t>Overvi</a:t>
            </a:r>
            <a:r>
              <a:rPr lang="en-US">
                <a:solidFill>
                  <a:schemeClr val="bg1"/>
                </a:solidFill>
              </a:rPr>
              <a:t>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4AD5A-F45F-2B0A-E683-FF5D60DA2D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390341"/>
            <a:ext cx="11155680" cy="13221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A comprehensive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AI-powered financial leasing system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that helps leasing companies improve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risk management, financial analysis, and customer support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. The system integrates machine learning models, predictive analytics, and an AI conversational assistant to automate decision-making and improve operational efficiency.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F937A6A-3007-6979-A53C-6E7F87F45D8E}"/>
              </a:ext>
            </a:extLst>
          </p:cNvPr>
          <p:cNvSpPr txBox="1">
            <a:spLocks/>
          </p:cNvSpPr>
          <p:nvPr/>
        </p:nvSpPr>
        <p:spPr>
          <a:xfrm>
            <a:off x="625892" y="3199724"/>
            <a:ext cx="7218646" cy="2613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Default Risk Prediction: Helps identify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high-risk customers early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and reduce non-performing leases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Impairment &amp; Expected Credit Loss Prediction: Supports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IFRS 9 compliance and better financial risk planning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Branch Performance Analysis: Helps management detect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underperforming branches and operational risks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AI Conversational Assistant: Supports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text ,voice and image interaction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to improve customer service and reduce staff workload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460AE7B-A27B-E0B3-A92E-5B40228A6E1F}"/>
              </a:ext>
            </a:extLst>
          </p:cNvPr>
          <p:cNvSpPr txBox="1">
            <a:spLocks/>
          </p:cNvSpPr>
          <p:nvPr/>
        </p:nvSpPr>
        <p:spPr>
          <a:xfrm>
            <a:off x="8055845" y="3431637"/>
            <a:ext cx="3783960" cy="261327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Reliability: Secure and stable AI system for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continuous financial risk monitoring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Performance: </a:t>
            </a:r>
            <a:r>
              <a:rPr lang="en-US" b="1">
                <a:solidFill>
                  <a:schemeClr val="bg1"/>
                </a:solidFill>
              </a:rPr>
              <a:t>Fast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 real-time predictions 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and analytics for leasing decision support.</a:t>
            </a:r>
            <a:endParaRPr lang="en-US">
              <a:solidFill>
                <a:schemeClr val="bg1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Usability: Simple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dashboards and </a:t>
            </a: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AI assistant for easy interaction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by staff and customers.</a:t>
            </a: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b="1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A944BD2-FAC1-5696-FBC8-3EBEDBEA7C93}"/>
              </a:ext>
            </a:extLst>
          </p:cNvPr>
          <p:cNvSpPr txBox="1">
            <a:spLocks/>
          </p:cNvSpPr>
          <p:nvPr/>
        </p:nvSpPr>
        <p:spPr>
          <a:xfrm>
            <a:off x="8317426" y="6172561"/>
            <a:ext cx="2043871" cy="4410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90% Completed</a:t>
            </a:r>
          </a:p>
        </p:txBody>
      </p:sp>
      <p:pic>
        <p:nvPicPr>
          <p:cNvPr id="4" name="Picture 3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1F621505-2390-1D47-B2E0-07C1DC3EC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824" y="5469490"/>
            <a:ext cx="1790700" cy="18383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26CC7A-305A-A880-BCED-4E2F449B05EF}"/>
              </a:ext>
            </a:extLst>
          </p:cNvPr>
          <p:cNvSpPr txBox="1"/>
          <p:nvPr/>
        </p:nvSpPr>
        <p:spPr>
          <a:xfrm>
            <a:off x="6096000" y="3012057"/>
            <a:ext cx="609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Non Functional Focus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0B1BCE-C655-C8AA-40BC-EB193275E75D}"/>
              </a:ext>
            </a:extLst>
          </p:cNvPr>
          <p:cNvSpPr/>
          <p:nvPr/>
        </p:nvSpPr>
        <p:spPr>
          <a:xfrm>
            <a:off x="494097" y="2859574"/>
            <a:ext cx="11333561" cy="312463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FCD9821-9CEA-A545-46C7-103A30917CDC}"/>
              </a:ext>
            </a:extLst>
          </p:cNvPr>
          <p:cNvCxnSpPr/>
          <p:nvPr/>
        </p:nvCxnSpPr>
        <p:spPr>
          <a:xfrm flipH="1">
            <a:off x="7891539" y="2859573"/>
            <a:ext cx="2771" cy="3185372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90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C73EF-08AC-74E5-2241-7B61957F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System Architecture &amp; Integration</a:t>
            </a:r>
          </a:p>
        </p:txBody>
      </p:sp>
      <p:pic>
        <p:nvPicPr>
          <p:cNvPr id="4" name="Content Placeholder 3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4FC50B61-0CB4-4B50-7A82-DDF5DDEE7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1263" y="5221717"/>
            <a:ext cx="1790700" cy="183832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999ABF-21C8-3E93-41C5-C5C5B5F94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523" y="1772828"/>
            <a:ext cx="10076923" cy="436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685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F7957-573A-4A55-64F8-34429BC31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07811"/>
            <a:ext cx="11155680" cy="905757"/>
          </a:xfrm>
        </p:spPr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Commercialization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D1397-1C71-BCD7-D103-87FD7E620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1532280"/>
            <a:ext cx="11155680" cy="446108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Target Users &amp; Market</a:t>
            </a:r>
            <a:endParaRPr lang="en-US"/>
          </a:p>
          <a:p>
            <a:r>
              <a:rPr lang="en-US">
                <a:solidFill>
                  <a:schemeClr val="bg1"/>
                </a:solidFill>
              </a:rPr>
              <a:t> Financial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leasing industry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Risk management teams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Finance analysts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Branch managers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 Leasing customers</a:t>
            </a:r>
            <a:endParaRPr lang="en-US">
              <a:solidFill>
                <a:schemeClr val="bg1"/>
              </a:solidFill>
            </a:endParaRPr>
          </a:p>
          <a:p>
            <a:endParaRPr lang="en-US"/>
          </a:p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Value Proposition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AI-driven risk prediction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helps leasing companies identify high-risk customers early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Branch performance insights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support data-driven management decisions</a:t>
            </a:r>
          </a:p>
          <a:p>
            <a:pPr>
              <a:buFont typeface="Arial"/>
              <a:buChar char="•"/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AI conversational assistant</a:t>
            </a:r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 provides instant responses to customer inquiries</a:t>
            </a:r>
            <a:endParaRPr lang="en-US">
              <a:solidFill>
                <a:schemeClr val="bg1"/>
              </a:solidFill>
            </a:endParaRPr>
          </a:p>
          <a:p>
            <a:pPr>
              <a:buFont typeface="Arial"/>
              <a:buChar char="•"/>
            </a:pP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4E060A55-9BA9-F001-EAAB-B28C3631A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4650" y="5237577"/>
            <a:ext cx="17907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80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FFD3-1EB0-76AA-DC24-C3BB03B51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Commercialization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A4989-F638-C73A-00E3-1F5B9272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0773" y="1853695"/>
            <a:ext cx="5125941" cy="40323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Cost and Feasibility 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Software development </a:t>
            </a:r>
            <a:endParaRPr lang="en-US"/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Cloud hosting </a:t>
            </a:r>
            <a:endParaRPr lang="en-US"/>
          </a:p>
          <a:p>
            <a:pPr marL="0" indent="0">
              <a:buNone/>
            </a:pPr>
            <a:endParaRPr 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Adoption Plan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System maintenance and updates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Data storage</a:t>
            </a:r>
          </a:p>
          <a:p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Security management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Picture 3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7E972364-A1F6-7704-8B93-798B8F866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9868" y="5292794"/>
            <a:ext cx="17907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27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3D44A-F326-98F7-AAE4-E68B89F79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966797"/>
            <a:ext cx="11155680" cy="14238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7200">
                <a:solidFill>
                  <a:schemeClr val="bg1"/>
                </a:solidFill>
              </a:rPr>
              <a:t>Thank You!</a:t>
            </a:r>
            <a:endParaRPr lang="en-US">
              <a:solidFill>
                <a:schemeClr val="bg1"/>
              </a:solidFill>
            </a:endParaRPr>
          </a:p>
        </p:txBody>
      </p:sp>
      <p:pic>
        <p:nvPicPr>
          <p:cNvPr id="2" name="Picture 1" descr="A white logo with lines and dots&#10;&#10;AI-generated content may be incorrect.">
            <a:extLst>
              <a:ext uri="{FF2B5EF4-FFF2-40B4-BE49-F238E27FC236}">
                <a16:creationId xmlns:a16="http://schemas.microsoft.com/office/drawing/2014/main" id="{2B139360-D546-AB1A-11F8-3E90E0B1A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2128" y="5259663"/>
            <a:ext cx="1790700" cy="183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0684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GestaltVTI</vt:lpstr>
      <vt:lpstr>Machine Learning Applications  in Financial Leasing </vt:lpstr>
      <vt:lpstr>Our Team Members</vt:lpstr>
      <vt:lpstr>PowerPoint Presentation</vt:lpstr>
      <vt:lpstr>Problem Statement &amp; Stakeholders</vt:lpstr>
      <vt:lpstr>Research Gap &amp; Objectives</vt:lpstr>
      <vt:lpstr>Solution Overview</vt:lpstr>
      <vt:lpstr>System Architecture &amp; Integration</vt:lpstr>
      <vt:lpstr>Commercialization</vt:lpstr>
      <vt:lpstr>Commercialization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5</cp:revision>
  <dcterms:created xsi:type="dcterms:W3CDTF">2013-07-15T20:26:40Z</dcterms:created>
  <dcterms:modified xsi:type="dcterms:W3CDTF">2026-04-26T17:06:25Z</dcterms:modified>
</cp:coreProperties>
</file>