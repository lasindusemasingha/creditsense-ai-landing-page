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77" r:id="rId5"/>
    <p:sldId id="270" r:id="rId6"/>
    <p:sldId id="271" r:id="rId7"/>
    <p:sldId id="308" r:id="rId8"/>
    <p:sldId id="264" r:id="rId9"/>
    <p:sldId id="274" r:id="rId10"/>
    <p:sldId id="307" r:id="rId11"/>
    <p:sldId id="287" r:id="rId12"/>
    <p:sldId id="334" r:id="rId13"/>
    <p:sldId id="335" r:id="rId14"/>
    <p:sldId id="292" r:id="rId15"/>
    <p:sldId id="332" r:id="rId16"/>
    <p:sldId id="333" r:id="rId17"/>
    <p:sldId id="301" r:id="rId18"/>
    <p:sldId id="328" r:id="rId19"/>
    <p:sldId id="329" r:id="rId20"/>
    <p:sldId id="337" r:id="rId21"/>
    <p:sldId id="338" r:id="rId22"/>
    <p:sldId id="339" r:id="rId23"/>
    <p:sldId id="31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39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44E9E6-C882-3811-E7D4-6E8F9019F8F4}" v="43" dt="2026-03-10T08:13:08.2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AAE38-79BE-4082-9A4D-2BEC47341C0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15613-D24F-46B4-9010-BD7B318E3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50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BCF22-2D75-4779-9C8B-6270AA3FA91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B8AC8-E212-48B2-9917-7448FC83D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9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roject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762000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Add the Project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25146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Project ID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449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08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dividua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1188891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al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0238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Sub-Titles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C29E58-4878-471A-A8CF-FA8607A4052E}"/>
              </a:ext>
            </a:extLst>
          </p:cNvPr>
          <p:cNvSpPr/>
          <p:nvPr userDrawn="1"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ITXXXXXXXX</a:t>
            </a:r>
            <a:r>
              <a:rPr lang="en-US" sz="1800">
                <a:solidFill>
                  <a:schemeClr val="tx1"/>
                </a:solidFill>
              </a:rPr>
              <a:t>   |   &lt;</a:t>
            </a:r>
            <a:r>
              <a:rPr lang="en-US" sz="1800" b="1">
                <a:solidFill>
                  <a:schemeClr val="tx1"/>
                </a:solidFill>
              </a:rPr>
              <a:t>&lt;Student Name&gt;&gt; 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 sz="1800" b="0">
                <a:solidFill>
                  <a:schemeClr val="tx1"/>
                </a:solidFill>
              </a:rPr>
              <a:t>&lt;&lt;Project ID&gt;&gt;</a:t>
            </a:r>
          </a:p>
        </p:txBody>
      </p:sp>
    </p:spTree>
    <p:extLst>
      <p:ext uri="{BB962C8B-B14F-4D97-AF65-F5344CB8AC3E}">
        <p14:creationId xmlns:p14="http://schemas.microsoft.com/office/powerpoint/2010/main" val="3293331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tudent Information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Student IT Number | Student Name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Student’s Specialization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8789F7-2DE1-4BD0-98A0-4D627E8C7924}"/>
              </a:ext>
            </a:extLst>
          </p:cNvPr>
          <p:cNvSpPr/>
          <p:nvPr userDrawn="1"/>
        </p:nvSpPr>
        <p:spPr>
          <a:xfrm>
            <a:off x="10134600" y="152400"/>
            <a:ext cx="1981200" cy="228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Student Must add a professional photo to this cage</a:t>
            </a:r>
          </a:p>
        </p:txBody>
      </p:sp>
    </p:spTree>
    <p:extLst>
      <p:ext uri="{BB962C8B-B14F-4D97-AF65-F5344CB8AC3E}">
        <p14:creationId xmlns:p14="http://schemas.microsoft.com/office/powerpoint/2010/main" val="2008593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0358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7086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5089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1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75490AD-C6C9-4021-8C34-1F6444AB48BF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22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二等辺三角形 11"/>
          <p:cNvSpPr/>
          <p:nvPr userDrawn="1"/>
        </p:nvSpPr>
        <p:spPr>
          <a:xfrm>
            <a:off x="0" y="6406010"/>
            <a:ext cx="12192000" cy="452885"/>
          </a:xfrm>
          <a:prstGeom prst="triangle">
            <a:avLst>
              <a:gd name="adj" fmla="val 85448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557430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752404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612078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310850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/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143000"/>
            <a:ext cx="116840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064364F-1F37-4C7B-B31F-2D4F671B2CB9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0503738D-67F6-4FC8-88E8-C0D768AD33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6EC11E-4ADA-413C-92B1-C0871F068AF1}"/>
              </a:ext>
            </a:extLst>
          </p:cNvPr>
          <p:cNvSpPr txBox="1"/>
          <p:nvPr userDrawn="1"/>
        </p:nvSpPr>
        <p:spPr>
          <a:xfrm>
            <a:off x="10287000" y="6536937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8C4007C-554A-4B16-A31C-089CB53EF86F}" type="datetime1">
              <a:rPr lang="en-US" sz="1200" b="1" smtClean="0"/>
              <a:t>4/26/2026</a:t>
            </a:fld>
            <a:endParaRPr lang="en-US" sz="1200" b="1"/>
          </a:p>
        </p:txBody>
      </p:sp>
    </p:spTree>
    <p:extLst>
      <p:ext uri="{BB962C8B-B14F-4D97-AF65-F5344CB8AC3E}">
        <p14:creationId xmlns:p14="http://schemas.microsoft.com/office/powerpoint/2010/main" val="4137453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50" r:id="rId3"/>
    <p:sldLayoutId id="2147483662" r:id="rId4"/>
    <p:sldLayoutId id="2147483651" r:id="rId5"/>
    <p:sldLayoutId id="2147483660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dobe Devanagari" pitchFamily="18" charset="0"/>
          <a:ea typeface="+mj-ea"/>
          <a:cs typeface="Adobe Devanagari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195219893@N08/51938140465" TargetMode="Externa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475E098-F3D0-453C-BBF5-A7C840F21F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453081"/>
            <a:ext cx="10363200" cy="1165225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000000"/>
                </a:solidFill>
                <a:latin typeface="Adobe Devanagari"/>
              </a:rPr>
              <a:t>Machine Learning Applications in Financial Leasing</a:t>
            </a: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88F3F03-40A0-499D-BDCC-A8E886D9D7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1896762"/>
            <a:ext cx="8534400" cy="1752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solidFill>
                  <a:srgbClr val="2E3944"/>
                </a:solidFill>
                <a:ea typeface="Cambria"/>
              </a:rPr>
              <a:t>25-26J-179</a:t>
            </a:r>
          </a:p>
        </p:txBody>
      </p:sp>
      <p:pic>
        <p:nvPicPr>
          <p:cNvPr id="7" name="Picture 6" descr="A group of people standing next to a computer&#10;&#10;AI-generated content may be incorrect.">
            <a:extLst>
              <a:ext uri="{FF2B5EF4-FFF2-40B4-BE49-F238E27FC236}">
                <a16:creationId xmlns:a16="http://schemas.microsoft.com/office/drawing/2014/main" id="{D0BA8ADD-EA57-F595-BAD3-1E229B59B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8348" y="1898049"/>
            <a:ext cx="5450873" cy="5378793"/>
          </a:xfrm>
          <a:prstGeom prst="rect">
            <a:avLst/>
          </a:prstGeom>
        </p:spPr>
      </p:pic>
      <p:pic>
        <p:nvPicPr>
          <p:cNvPr id="8" name="Picture 7" descr="A computer with a calculator and coins&#10;&#10;AI-generated content may be incorrect.">
            <a:extLst>
              <a:ext uri="{FF2B5EF4-FFF2-40B4-BE49-F238E27FC236}">
                <a16:creationId xmlns:a16="http://schemas.microsoft.com/office/drawing/2014/main" id="{394C1A95-F6CC-8E3C-ECBC-A5EBFFBD8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875" y="2587967"/>
            <a:ext cx="5691575" cy="4009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887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FFCB7-EC63-495B-9ED3-9E3A0892BB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>
                <a:latin typeface="Adobe Devanagari"/>
              </a:rPr>
              <a:t>Our Team</a:t>
            </a:r>
            <a:endParaRPr lang="en-US" b="1"/>
          </a:p>
        </p:txBody>
      </p:sp>
      <p:pic>
        <p:nvPicPr>
          <p:cNvPr id="6" name="Picture 5" descr="A person with long hair smiling&#10;&#10;AI-generated content may be incorrect.">
            <a:extLst>
              <a:ext uri="{FF2B5EF4-FFF2-40B4-BE49-F238E27FC236}">
                <a16:creationId xmlns:a16="http://schemas.microsoft.com/office/drawing/2014/main" id="{6B436499-CB47-8780-2986-9A8CC9271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827" y="2230475"/>
            <a:ext cx="1612712" cy="1821294"/>
          </a:xfrm>
          <a:prstGeom prst="rect">
            <a:avLst/>
          </a:prstGeom>
        </p:spPr>
      </p:pic>
      <p:pic>
        <p:nvPicPr>
          <p:cNvPr id="8" name="Picture 7" descr="A person smiling at camera&#10;&#10;AI-generated content may be incorrect.">
            <a:extLst>
              <a:ext uri="{FF2B5EF4-FFF2-40B4-BE49-F238E27FC236}">
                <a16:creationId xmlns:a16="http://schemas.microsoft.com/office/drawing/2014/main" id="{14C05D41-4271-7F16-264E-889E2C0B75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455" b="16949"/>
          <a:stretch>
            <a:fillRect/>
          </a:stretch>
        </p:blipFill>
        <p:spPr>
          <a:xfrm>
            <a:off x="6412880" y="2244018"/>
            <a:ext cx="1638326" cy="1824526"/>
          </a:xfrm>
          <a:prstGeom prst="rect">
            <a:avLst/>
          </a:prstGeom>
        </p:spPr>
      </p:pic>
      <p:pic>
        <p:nvPicPr>
          <p:cNvPr id="10" name="Picture 9" descr="A person with long black hair&#10;&#10;AI-generated content may be incorrect.">
            <a:extLst>
              <a:ext uri="{FF2B5EF4-FFF2-40B4-BE49-F238E27FC236}">
                <a16:creationId xmlns:a16="http://schemas.microsoft.com/office/drawing/2014/main" id="{22166E4A-A989-3C17-0C8F-EDB6DC56C0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1812" y="2239108"/>
            <a:ext cx="1276552" cy="181707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A95889D-67E4-6D1F-E790-12366AE69164}"/>
              </a:ext>
            </a:extLst>
          </p:cNvPr>
          <p:cNvSpPr txBox="1"/>
          <p:nvPr/>
        </p:nvSpPr>
        <p:spPr>
          <a:xfrm>
            <a:off x="3648582" y="4383745"/>
            <a:ext cx="207425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ea typeface="Cambria"/>
              </a:rPr>
              <a:t>IT22129130</a:t>
            </a:r>
          </a:p>
          <a:p>
            <a:r>
              <a:rPr lang="en-US" err="1">
                <a:ea typeface="Cambria"/>
              </a:rPr>
              <a:t>Maharambage</a:t>
            </a:r>
            <a:r>
              <a:rPr lang="en-US">
                <a:ea typeface="Cambria"/>
              </a:rPr>
              <a:t> K 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455E0D-DE82-DAAE-FF77-B71B14FD799D}"/>
              </a:ext>
            </a:extLst>
          </p:cNvPr>
          <p:cNvSpPr txBox="1"/>
          <p:nvPr/>
        </p:nvSpPr>
        <p:spPr>
          <a:xfrm>
            <a:off x="6192489" y="4383744"/>
            <a:ext cx="207425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ea typeface="Cambria"/>
              </a:rPr>
              <a:t>IT22087560</a:t>
            </a:r>
          </a:p>
          <a:p>
            <a:r>
              <a:rPr lang="en-US">
                <a:ea typeface="Cambria"/>
              </a:rPr>
              <a:t>Weerasinghe M 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783AC6-D4FF-FDFB-26CB-380854D18BE9}"/>
              </a:ext>
            </a:extLst>
          </p:cNvPr>
          <p:cNvSpPr txBox="1"/>
          <p:nvPr/>
        </p:nvSpPr>
        <p:spPr>
          <a:xfrm>
            <a:off x="8748119" y="4383744"/>
            <a:ext cx="207425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ea typeface="Cambria"/>
              </a:rPr>
              <a:t>IT22583796</a:t>
            </a:r>
          </a:p>
          <a:p>
            <a:r>
              <a:rPr lang="en-US">
                <a:ea typeface="Cambria"/>
              </a:rPr>
              <a:t>Erangi M G M</a:t>
            </a:r>
            <a:endParaRPr lang="en-US"/>
          </a:p>
        </p:txBody>
      </p:sp>
      <p:pic>
        <p:nvPicPr>
          <p:cNvPr id="3" name="Picture 2" descr="A person with a beard&#10;&#10;AI-generated content may be incorrect.">
            <a:extLst>
              <a:ext uri="{FF2B5EF4-FFF2-40B4-BE49-F238E27FC236}">
                <a16:creationId xmlns:a16="http://schemas.microsoft.com/office/drawing/2014/main" id="{5605705A-3C6C-1A8D-9F39-5EDEA55A0F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4748" y="2253692"/>
            <a:ext cx="1432612" cy="18151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0EFF0B-0036-4282-D4A7-3CBDF2353529}"/>
              </a:ext>
            </a:extLst>
          </p:cNvPr>
          <p:cNvSpPr txBox="1"/>
          <p:nvPr/>
        </p:nvSpPr>
        <p:spPr>
          <a:xfrm>
            <a:off x="1424366" y="4383745"/>
            <a:ext cx="221577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ea typeface="Cambria"/>
              </a:rPr>
              <a:t>IT22198518</a:t>
            </a:r>
          </a:p>
          <a:p>
            <a:r>
              <a:rPr lang="en-US" err="1">
                <a:ea typeface="Cambria"/>
              </a:rPr>
              <a:t>Semasingha</a:t>
            </a:r>
            <a:r>
              <a:rPr lang="en-US">
                <a:ea typeface="Cambria"/>
              </a:rPr>
              <a:t> W A L D</a:t>
            </a:r>
          </a:p>
        </p:txBody>
      </p:sp>
    </p:spTree>
    <p:extLst>
      <p:ext uri="{BB962C8B-B14F-4D97-AF65-F5344CB8AC3E}">
        <p14:creationId xmlns:p14="http://schemas.microsoft.com/office/powerpoint/2010/main" val="4150955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A4C11C0-9458-44AA-961E-D5AA11BE53E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49803" y="1298230"/>
            <a:ext cx="11642241" cy="271324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Manual, rule-based leasing processes are </a:t>
            </a:r>
            <a:r>
              <a:rPr lang="en-US" sz="2400" b="1">
                <a:ea typeface="+mn-lt"/>
                <a:cs typeface="+mn-lt"/>
              </a:rPr>
              <a:t>slow, error-prone, and hard to scale</a:t>
            </a:r>
            <a:r>
              <a:rPr lang="en-US" sz="2400">
                <a:ea typeface="+mn-lt"/>
                <a:cs typeface="+mn-lt"/>
              </a:rPr>
              <a:t> across risk, impairment, performance, and customer operations.</a:t>
            </a:r>
            <a:endParaRPr lang="en-US" sz="2400" b="1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Machine learning provides </a:t>
            </a:r>
            <a:r>
              <a:rPr lang="en-US" sz="2400" b="1">
                <a:ea typeface="+mn-lt"/>
                <a:cs typeface="+mn-lt"/>
              </a:rPr>
              <a:t>accurate impairment and default risk predictions</a:t>
            </a:r>
            <a:r>
              <a:rPr lang="en-US" sz="2400">
                <a:ea typeface="+mn-lt"/>
                <a:cs typeface="+mn-lt"/>
              </a:rPr>
              <a:t> from large historical datasets for </a:t>
            </a:r>
            <a:r>
              <a:rPr lang="en-US" sz="2400" b="1">
                <a:ea typeface="+mn-lt"/>
                <a:cs typeface="+mn-lt"/>
              </a:rPr>
              <a:t>faster, reliable decisions</a:t>
            </a:r>
            <a:r>
              <a:rPr lang="en-US" sz="2400">
                <a:ea typeface="+mn-lt"/>
                <a:cs typeface="+mn-lt"/>
              </a:rPr>
              <a:t>.</a:t>
            </a:r>
          </a:p>
          <a:p>
            <a:pPr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AI-driven analytics and automation </a:t>
            </a:r>
            <a:r>
              <a:rPr lang="en-US" sz="2400" b="1">
                <a:ea typeface="+mn-lt"/>
                <a:cs typeface="+mn-lt"/>
              </a:rPr>
              <a:t>reduce workload, improve branch insights, and boost overall efficiency</a:t>
            </a:r>
            <a:r>
              <a:rPr lang="en-US" sz="2400">
                <a:ea typeface="+mn-lt"/>
                <a:cs typeface="+mn-lt"/>
              </a:rPr>
              <a:t>.</a:t>
            </a:r>
          </a:p>
          <a:p>
            <a:pPr>
              <a:buNone/>
            </a:pPr>
            <a:endParaRPr lang="en-US" b="1">
              <a:ea typeface="Cambria"/>
              <a:cs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57C7EC-8DAB-F2A9-3F94-513ED7D7D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8508" y="4109159"/>
            <a:ext cx="2043749" cy="2745494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0C4789D-3D0A-2D94-C136-91AD2AF67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660" y="4839938"/>
            <a:ext cx="11122872" cy="980648"/>
          </a:xfrm>
        </p:spPr>
        <p:txBody>
          <a:bodyPr>
            <a:normAutofit/>
          </a:bodyPr>
          <a:lstStyle/>
          <a:p>
            <a:pPr marL="342900" indent="-342900" algn="l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400">
                <a:latin typeface="Cambria"/>
                <a:ea typeface="Cambria"/>
              </a:rPr>
              <a:t>Financial analysts, credit risk managers, branch managers, and operations, teams in leasing institutions.</a:t>
            </a:r>
            <a:endParaRPr lang="en-US" sz="2400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92A3B6DA-0D9C-8FAB-BB57-162F57950348}"/>
              </a:ext>
            </a:extLst>
          </p:cNvPr>
          <p:cNvSpPr txBox="1">
            <a:spLocks/>
          </p:cNvSpPr>
          <p:nvPr/>
        </p:nvSpPr>
        <p:spPr>
          <a:xfrm>
            <a:off x="557421" y="357327"/>
            <a:ext cx="4287285" cy="8358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r>
              <a:rPr lang="en-US" sz="3600" b="1"/>
              <a:t>Problem &amp; Impact</a:t>
            </a:r>
            <a:endParaRPr lang="en-US" sz="3600" b="1">
              <a:ea typeface="Cambria"/>
            </a:endParaRPr>
          </a:p>
          <a:p>
            <a:pPr>
              <a:buFont typeface="Arial" pitchFamily="34" charset="0"/>
              <a:buNone/>
            </a:pPr>
            <a:endParaRPr lang="en-US" sz="3600" b="1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US" sz="2800">
              <a:ea typeface="+mn-lt"/>
              <a:cs typeface="+mn-lt"/>
            </a:endParaRPr>
          </a:p>
          <a:p>
            <a:pPr>
              <a:buFont typeface="Arial" pitchFamily="34" charset="0"/>
              <a:buNone/>
            </a:pPr>
            <a:endParaRPr lang="en-US" b="1">
              <a:ea typeface="Cambria"/>
              <a:cs typeface="Arial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037C6D2-B6C2-EC11-580B-35BEA382F90C}"/>
              </a:ext>
            </a:extLst>
          </p:cNvPr>
          <p:cNvSpPr txBox="1">
            <a:spLocks/>
          </p:cNvSpPr>
          <p:nvPr/>
        </p:nvSpPr>
        <p:spPr>
          <a:xfrm>
            <a:off x="559277" y="3998425"/>
            <a:ext cx="2751914" cy="837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algn="l">
              <a:spcBef>
                <a:spcPct val="20000"/>
              </a:spcBef>
            </a:pPr>
            <a:r>
              <a:rPr lang="en-US" sz="3600" b="1">
                <a:latin typeface="Cambria"/>
                <a:ea typeface="Cambria"/>
              </a:rPr>
              <a:t>Target Users</a:t>
            </a:r>
          </a:p>
        </p:txBody>
      </p:sp>
    </p:spTree>
    <p:extLst>
      <p:ext uri="{BB962C8B-B14F-4D97-AF65-F5344CB8AC3E}">
        <p14:creationId xmlns:p14="http://schemas.microsoft.com/office/powerpoint/2010/main" val="725102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0A64B-C33A-479A-72EF-C85BF0EBD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0530" y="356286"/>
            <a:ext cx="4949568" cy="781865"/>
          </a:xfrm>
        </p:spPr>
        <p:txBody>
          <a:bodyPr/>
          <a:lstStyle/>
          <a:p>
            <a:r>
              <a:rPr lang="en-US" b="1">
                <a:latin typeface="Adobe Devanagari"/>
              </a:rPr>
              <a:t>Design Excellence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0AA89-DC87-44F4-BFEB-2E95B5FEA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sz="2800">
              <a:ea typeface="Cambria"/>
            </a:endParaRPr>
          </a:p>
          <a:p>
            <a:pPr marL="0" indent="0">
              <a:buNone/>
            </a:pPr>
            <a:endParaRPr lang="en-US">
              <a:ea typeface="Cambria"/>
            </a:endParaRPr>
          </a:p>
        </p:txBody>
      </p:sp>
      <p:pic>
        <p:nvPicPr>
          <p:cNvPr id="6" name="Picture 5" descr="A blue and black logo&#10;&#10;AI-generated content may be incorrect.">
            <a:extLst>
              <a:ext uri="{FF2B5EF4-FFF2-40B4-BE49-F238E27FC236}">
                <a16:creationId xmlns:a16="http://schemas.microsoft.com/office/drawing/2014/main" id="{3395A0DB-CD65-4A67-1A04-24158E6B4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3122" y="-177307"/>
            <a:ext cx="2559844" cy="2536032"/>
          </a:xfrm>
          <a:prstGeom prst="rect">
            <a:avLst/>
          </a:prstGeom>
        </p:spPr>
      </p:pic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129FA935-F7BC-F7F5-E7D7-7725A80844F6}"/>
              </a:ext>
            </a:extLst>
          </p:cNvPr>
          <p:cNvSpPr txBox="1">
            <a:spLocks/>
          </p:cNvSpPr>
          <p:nvPr/>
        </p:nvSpPr>
        <p:spPr>
          <a:xfrm>
            <a:off x="486462" y="1513438"/>
            <a:ext cx="11310079" cy="491690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Provides </a:t>
            </a:r>
            <a:r>
              <a:rPr lang="en-US" b="1">
                <a:ea typeface="+mn-lt"/>
                <a:cs typeface="+mn-lt"/>
              </a:rPr>
              <a:t>end-to-end ML solutions</a:t>
            </a:r>
            <a:r>
              <a:rPr lang="en-US">
                <a:ea typeface="+mn-lt"/>
                <a:cs typeface="+mn-lt"/>
              </a:rPr>
              <a:t> for impairment estimation, Risk prediction, branch performance analysis, and customer inquiry automation.</a:t>
            </a: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Combines </a:t>
            </a:r>
            <a:r>
              <a:rPr lang="en-US" b="1">
                <a:ea typeface="+mn-lt"/>
                <a:cs typeface="+mn-lt"/>
              </a:rPr>
              <a:t>multiple advanced models and ensemble techniques</a:t>
            </a:r>
            <a:r>
              <a:rPr lang="en-US">
                <a:ea typeface="+mn-lt"/>
                <a:cs typeface="+mn-lt"/>
              </a:rPr>
              <a:t> to maximize prediction accuracy and reliability.</a:t>
            </a: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Designed for </a:t>
            </a:r>
            <a:r>
              <a:rPr lang="en-US" b="1">
                <a:ea typeface="+mn-lt"/>
                <a:cs typeface="+mn-lt"/>
              </a:rPr>
              <a:t>scalability, efficiency, and integration</a:t>
            </a:r>
            <a:r>
              <a:rPr lang="en-US">
                <a:ea typeface="+mn-lt"/>
                <a:cs typeface="+mn-lt"/>
              </a:rPr>
              <a:t> into financial leasing operations.</a:t>
            </a: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Offers </a:t>
            </a:r>
            <a:r>
              <a:rPr lang="en-US" b="1">
                <a:ea typeface="+mn-lt"/>
                <a:cs typeface="+mn-lt"/>
              </a:rPr>
              <a:t>actionable insights and automation</a:t>
            </a:r>
            <a:r>
              <a:rPr lang="en-US">
                <a:ea typeface="+mn-lt"/>
                <a:cs typeface="+mn-lt"/>
              </a:rPr>
              <a:t>, supporting faster decisions and reduced operational workload.</a:t>
            </a:r>
          </a:p>
          <a:p>
            <a:pPr>
              <a:buFont typeface="Arial" pitchFamily="34" charset="0"/>
              <a:buNone/>
            </a:pPr>
            <a:endParaRPr lang="en-US" b="1">
              <a:ea typeface="+mn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60115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755AF9-6AEA-4BCA-A1A2-C57A58214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dobe Devanagari"/>
              </a:rPr>
              <a:t>IT22198518 | W.A.L.D. </a:t>
            </a:r>
            <a:r>
              <a:rPr lang="en-US" err="1">
                <a:latin typeface="Adobe Devanagari"/>
              </a:rPr>
              <a:t>Semasingha</a:t>
            </a:r>
            <a:endParaRPr lang="en-US" err="1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A91C59-28F0-4A9C-ACA2-19A536A0C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3084" y="3516449"/>
            <a:ext cx="10363200" cy="367485"/>
          </a:xfrm>
        </p:spPr>
        <p:txBody>
          <a:bodyPr>
            <a:normAutofit lnSpcReduction="10000"/>
          </a:bodyPr>
          <a:lstStyle/>
          <a:p>
            <a:r>
              <a:rPr lang="en-US">
                <a:ea typeface="Cambria"/>
              </a:rPr>
              <a:t>BSc (Hons) in Information Technology Specializing in Information Technology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B98E66-DBD5-4B29-AC68-A58A70C64231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IT22198518</a:t>
            </a:r>
            <a:r>
              <a:rPr lang="en-US">
                <a:solidFill>
                  <a:schemeClr val="tx1"/>
                </a:solidFill>
              </a:rPr>
              <a:t> </a:t>
            </a:r>
            <a:r>
              <a:rPr lang="en-US" sz="1800">
                <a:solidFill>
                  <a:schemeClr val="tx1"/>
                </a:solidFill>
              </a:rPr>
              <a:t>| </a:t>
            </a:r>
            <a:r>
              <a:rPr lang="en-US">
                <a:solidFill>
                  <a:schemeClr val="tx1"/>
                </a:solidFill>
              </a:rPr>
              <a:t>W.A.L.D. </a:t>
            </a:r>
            <a:r>
              <a:rPr lang="en-US" err="1">
                <a:solidFill>
                  <a:schemeClr val="tx1"/>
                </a:solidFill>
              </a:rPr>
              <a:t>Semasingha</a:t>
            </a:r>
            <a:r>
              <a:rPr lang="en-US" b="1">
                <a:solidFill>
                  <a:schemeClr val="tx1"/>
                </a:solidFill>
              </a:rPr>
              <a:t> </a:t>
            </a:r>
            <a:r>
              <a:rPr lang="en-US">
                <a:solidFill>
                  <a:schemeClr val="tx1"/>
                </a:solidFill>
              </a:rPr>
              <a:t>|</a:t>
            </a:r>
            <a:r>
              <a:rPr lang="en-US" sz="1800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25-26J-179</a:t>
            </a:r>
          </a:p>
        </p:txBody>
      </p:sp>
      <p:pic>
        <p:nvPicPr>
          <p:cNvPr id="3" name="Picture 2" descr="A person with a beard&#10;&#10;AI-generated content may be incorrect.">
            <a:extLst>
              <a:ext uri="{FF2B5EF4-FFF2-40B4-BE49-F238E27FC236}">
                <a16:creationId xmlns:a16="http://schemas.microsoft.com/office/drawing/2014/main" id="{C4902B06-DF9F-9B0F-D59D-4E1E4643B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5559" y="91260"/>
            <a:ext cx="2081341" cy="255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409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omputer with a graph and money&#10;&#10;AI-generated content may be incorrect.">
            <a:extLst>
              <a:ext uri="{FF2B5EF4-FFF2-40B4-BE49-F238E27FC236}">
                <a16:creationId xmlns:a16="http://schemas.microsoft.com/office/drawing/2014/main" id="{8492BD7F-78FA-867A-D763-C19CC3902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2123" y="-369094"/>
            <a:ext cx="2809877" cy="2797971"/>
          </a:xfrm>
          <a:prstGeom prst="rect">
            <a:avLst/>
          </a:prstGeom>
          <a:effectLst/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9D9F080-0780-4554-8055-A289E0D4EDA8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IT22198518</a:t>
            </a:r>
            <a:r>
              <a:rPr lang="en-US">
                <a:solidFill>
                  <a:schemeClr val="tx1"/>
                </a:solidFill>
              </a:rPr>
              <a:t>   </a:t>
            </a:r>
            <a:r>
              <a:rPr lang="en-US" sz="1800">
                <a:solidFill>
                  <a:schemeClr val="tx1"/>
                </a:solidFill>
              </a:rPr>
              <a:t>| </a:t>
            </a:r>
            <a:r>
              <a:rPr lang="en-US">
                <a:solidFill>
                  <a:schemeClr val="tx1"/>
                </a:solidFill>
              </a:rPr>
              <a:t>W.A.L.D. </a:t>
            </a:r>
            <a:r>
              <a:rPr lang="en-US" err="1">
                <a:solidFill>
                  <a:schemeClr val="tx1"/>
                </a:solidFill>
              </a:rPr>
              <a:t>Semasingha</a:t>
            </a:r>
            <a:r>
              <a:rPr lang="en-US" sz="1800" b="1">
                <a:solidFill>
                  <a:schemeClr val="tx1"/>
                </a:solidFill>
              </a:rPr>
              <a:t> 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>
                <a:solidFill>
                  <a:schemeClr val="tx1"/>
                </a:solidFill>
              </a:rPr>
              <a:t>25-26J-179</a:t>
            </a:r>
            <a:endParaRPr lang="en-US">
              <a:solidFill>
                <a:schemeClr val="tx1"/>
              </a:solidFill>
              <a:ea typeface="Cambria"/>
            </a:endParaRPr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E5723302-4C26-8265-EB77-E8FBF17F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597" y="355438"/>
            <a:ext cx="10363200" cy="1362075"/>
          </a:xfrm>
        </p:spPr>
        <p:txBody>
          <a:bodyPr>
            <a:normAutofit fontScale="90000"/>
          </a:bodyPr>
          <a:lstStyle/>
          <a:p>
            <a:pPr algn="l"/>
            <a:r>
              <a:rPr lang="en-US" b="1">
                <a:latin typeface="Adobe Devanagari"/>
              </a:rPr>
              <a:t>Impairment Estimation</a:t>
            </a:r>
            <a:br>
              <a:rPr lang="en-US" b="1"/>
            </a:br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061C473F-FB5B-5642-D100-1F37B431EE9E}"/>
              </a:ext>
            </a:extLst>
          </p:cNvPr>
          <p:cNvSpPr txBox="1">
            <a:spLocks/>
          </p:cNvSpPr>
          <p:nvPr/>
        </p:nvSpPr>
        <p:spPr>
          <a:xfrm>
            <a:off x="911598" y="1456991"/>
            <a:ext cx="10363200" cy="50424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Solution</a:t>
            </a:r>
          </a:p>
          <a:p>
            <a:pPr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Developed a </a:t>
            </a:r>
            <a:r>
              <a:rPr lang="en-US" sz="2400" b="1">
                <a:ea typeface="+mn-lt"/>
                <a:cs typeface="+mn-lt"/>
              </a:rPr>
              <a:t>direct data-driven impairment &amp; ECL prediction prototype</a:t>
            </a:r>
            <a:r>
              <a:rPr lang="en-US" sz="2400">
                <a:ea typeface="+mn-lt"/>
                <a:cs typeface="+mn-lt"/>
              </a:rPr>
              <a:t> using historical leasing data.</a:t>
            </a:r>
            <a:endParaRPr lang="en-US"/>
          </a:p>
          <a:p>
            <a:pPr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Trained on </a:t>
            </a:r>
            <a:r>
              <a:rPr lang="en-US" sz="2400" b="1">
                <a:ea typeface="+mn-lt"/>
                <a:cs typeface="+mn-lt"/>
              </a:rPr>
              <a:t>98,000 real financial records</a:t>
            </a:r>
            <a:r>
              <a:rPr lang="en-US" sz="2400">
                <a:ea typeface="+mn-lt"/>
                <a:cs typeface="+mn-lt"/>
              </a:rPr>
              <a:t>, ensuring robustness and real-world applicability.</a:t>
            </a:r>
            <a:endParaRPr lang="en-US"/>
          </a:p>
          <a:p>
            <a:pPr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Multiple advanced ML models were evaluated to identify the most accurate and stable approach.</a:t>
            </a:r>
            <a:endParaRPr lang="en-US"/>
          </a:p>
          <a:p>
            <a:pPr>
              <a:buNone/>
            </a:pPr>
            <a:r>
              <a:rPr lang="en-US" sz="2400" b="1"/>
              <a:t>User Requirements</a:t>
            </a:r>
            <a:endParaRPr lang="en-US"/>
          </a:p>
          <a:p>
            <a:r>
              <a:rPr lang="en-US" sz="2400" b="1"/>
              <a:t>High</a:t>
            </a:r>
            <a:r>
              <a:rPr lang="en-US" sz="2400" b="1">
                <a:ea typeface="+mn-lt"/>
                <a:cs typeface="+mn-lt"/>
              </a:rPr>
              <a:t> accuracy</a:t>
            </a:r>
            <a:r>
              <a:rPr lang="en-US" sz="2400">
                <a:ea typeface="+mn-lt"/>
                <a:cs typeface="+mn-lt"/>
              </a:rPr>
              <a:t> in impairment and ECL prediction → achieved using advanced ensemble learning.</a:t>
            </a:r>
            <a:endParaRPr lang="en-US">
              <a:ea typeface="Cambria"/>
            </a:endParaRPr>
          </a:p>
          <a:p>
            <a:pPr>
              <a:buFont typeface="Arial"/>
              <a:buChar char="•"/>
            </a:pPr>
            <a:r>
              <a:rPr lang="en-US" sz="2400" b="1">
                <a:ea typeface="+mn-lt"/>
                <a:cs typeface="+mn-lt"/>
              </a:rPr>
              <a:t>Fast decision support</a:t>
            </a:r>
            <a:r>
              <a:rPr lang="en-US" sz="2400">
                <a:ea typeface="+mn-lt"/>
                <a:cs typeface="+mn-lt"/>
              </a:rPr>
              <a:t> for credit risk and provisioning.</a:t>
            </a:r>
            <a:endParaRPr lang="en-US"/>
          </a:p>
          <a:p>
            <a:pPr marL="0" indent="0">
              <a:buNone/>
            </a:pPr>
            <a:endParaRPr lang="en-US" sz="2400" b="1">
              <a:ea typeface="+mn-lt"/>
              <a:cs typeface="+mn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AC0AD6-09FA-4870-BCC2-204467FEB340}"/>
              </a:ext>
            </a:extLst>
          </p:cNvPr>
          <p:cNvSpPr txBox="1"/>
          <p:nvPr/>
        </p:nvSpPr>
        <p:spPr>
          <a:xfrm>
            <a:off x="6331500" y="3950753"/>
            <a:ext cx="2743199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498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E70D8-3743-FB84-5118-E5B2F556F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4DAEEA-8B03-5070-4FAE-E0D6A2A8C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538" y="486915"/>
            <a:ext cx="11684000" cy="588917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None/>
            </a:pPr>
            <a:r>
              <a:rPr lang="en-US" sz="2500" b="1"/>
              <a:t>Design Excellence &amp; Technical Contribution</a:t>
            </a:r>
            <a:endParaRPr lang="en-US" sz="2500"/>
          </a:p>
          <a:p>
            <a:pPr>
              <a:buFont typeface="Arial"/>
            </a:pPr>
            <a:r>
              <a:rPr lang="en-US" sz="2400">
                <a:ea typeface="+mn-lt"/>
                <a:cs typeface="+mn-lt"/>
              </a:rPr>
              <a:t>Trained and evaluated </a:t>
            </a:r>
            <a:r>
              <a:rPr lang="en-US" sz="2400" b="1">
                <a:ea typeface="+mn-lt"/>
                <a:cs typeface="+mn-lt"/>
              </a:rPr>
              <a:t>six advanced models</a:t>
            </a:r>
            <a:r>
              <a:rPr lang="en-US" sz="2400">
                <a:ea typeface="+mn-lt"/>
                <a:cs typeface="+mn-lt"/>
              </a:rPr>
              <a:t>:</a:t>
            </a:r>
            <a:endParaRPr lang="en-US"/>
          </a:p>
          <a:p>
            <a:pPr lvl="1" indent="0">
              <a:buNone/>
            </a:pPr>
            <a:r>
              <a:rPr lang="en-US" sz="2400">
                <a:ea typeface="+mn-lt"/>
                <a:cs typeface="+mn-lt"/>
              </a:rPr>
              <a:t>Random Forest, </a:t>
            </a:r>
            <a:r>
              <a:rPr lang="en-US" sz="2400" err="1">
                <a:ea typeface="+mn-lt"/>
                <a:cs typeface="+mn-lt"/>
              </a:rPr>
              <a:t>XGBoost</a:t>
            </a:r>
            <a:r>
              <a:rPr lang="en-US" sz="240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LightGBM</a:t>
            </a:r>
            <a:r>
              <a:rPr lang="en-US" sz="240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CatBoost</a:t>
            </a:r>
            <a:r>
              <a:rPr lang="en-US" sz="2400">
                <a:ea typeface="+mn-lt"/>
                <a:cs typeface="+mn-lt"/>
              </a:rPr>
              <a:t>, Gradient Boosting,</a:t>
            </a:r>
            <a:endParaRPr lang="en-US">
              <a:ea typeface="+mn-lt"/>
              <a:cs typeface="+mn-lt"/>
            </a:endParaRPr>
          </a:p>
          <a:p>
            <a:pPr lvl="1" indent="0">
              <a:buNone/>
            </a:pPr>
            <a:r>
              <a:rPr lang="en-US" sz="2400">
                <a:ea typeface="+mn-lt"/>
                <a:cs typeface="+mn-lt"/>
              </a:rPr>
              <a:t>Ridge Regression (Polynomial Features)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</a:pPr>
            <a:r>
              <a:rPr lang="en-US" sz="2400">
                <a:ea typeface="+mn-lt"/>
                <a:cs typeface="+mn-lt"/>
              </a:rPr>
              <a:t>Implemented </a:t>
            </a:r>
            <a:r>
              <a:rPr lang="en-US" sz="2400" b="1">
                <a:ea typeface="+mn-lt"/>
                <a:cs typeface="+mn-lt"/>
              </a:rPr>
              <a:t>Ensemble Stacking (Meta-Model)</a:t>
            </a:r>
            <a:r>
              <a:rPr lang="en-US" sz="2400">
                <a:ea typeface="+mn-lt"/>
                <a:cs typeface="+mn-lt"/>
              </a:rPr>
              <a:t> to combine strengths of individual learners.</a:t>
            </a:r>
            <a:endParaRPr lang="en-US"/>
          </a:p>
          <a:p>
            <a:pPr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Final architecture:</a:t>
            </a:r>
            <a:endParaRPr lang="en-US"/>
          </a:p>
          <a:p>
            <a:pPr marL="1028700" lvl="1">
              <a:buFont typeface="Wingdings"/>
              <a:buChar char="Ø"/>
            </a:pPr>
            <a:r>
              <a:rPr lang="en-US" sz="2400" b="1">
                <a:ea typeface="+mn-lt"/>
                <a:cs typeface="+mn-lt"/>
              </a:rPr>
              <a:t>Gradient Boosting</a:t>
            </a:r>
            <a:r>
              <a:rPr lang="en-US" sz="2400">
                <a:ea typeface="+mn-lt"/>
                <a:cs typeface="+mn-lt"/>
              </a:rPr>
              <a:t> → Impairment prediction</a:t>
            </a:r>
            <a:endParaRPr lang="en-US"/>
          </a:p>
          <a:p>
            <a:pPr marL="1028700" lvl="1">
              <a:buFont typeface="Wingdings"/>
              <a:buChar char="Ø"/>
            </a:pPr>
            <a:r>
              <a:rPr lang="en-US" sz="2400" b="1">
                <a:ea typeface="+mn-lt"/>
                <a:cs typeface="+mn-lt"/>
              </a:rPr>
              <a:t>Stacking Ensemble</a:t>
            </a:r>
            <a:r>
              <a:rPr lang="en-US" sz="2400">
                <a:ea typeface="+mn-lt"/>
                <a:cs typeface="+mn-lt"/>
              </a:rPr>
              <a:t> → ECL prediction</a:t>
            </a:r>
            <a:endParaRPr lang="en-US"/>
          </a:p>
          <a:p>
            <a:pPr>
              <a:buFont typeface="Arial"/>
            </a:pPr>
            <a:r>
              <a:rPr lang="en-US" sz="2400">
                <a:ea typeface="+mn-lt"/>
                <a:cs typeface="+mn-lt"/>
              </a:rPr>
              <a:t>Achieved </a:t>
            </a:r>
            <a:r>
              <a:rPr lang="en-US" sz="2400" b="1">
                <a:ea typeface="+mn-lt"/>
                <a:cs typeface="+mn-lt"/>
              </a:rPr>
              <a:t>significant performance improvement</a:t>
            </a:r>
            <a:r>
              <a:rPr lang="en-US" sz="2400">
                <a:ea typeface="+mn-lt"/>
                <a:cs typeface="+mn-lt"/>
              </a:rPr>
              <a:t> over baseline single models.</a:t>
            </a:r>
          </a:p>
          <a:p>
            <a:pPr>
              <a:buNone/>
            </a:pPr>
            <a:r>
              <a:rPr lang="en-US" sz="2400" b="1">
                <a:ea typeface="Cambria"/>
              </a:rPr>
              <a:t>User Feedbacks</a:t>
            </a:r>
          </a:p>
          <a:p>
            <a:r>
              <a:rPr lang="en-US" sz="2400">
                <a:ea typeface="+mn-lt"/>
                <a:cs typeface="+mn-lt"/>
              </a:rPr>
              <a:t>The model demonstrated </a:t>
            </a:r>
            <a:r>
              <a:rPr lang="en-US" sz="2400" b="1">
                <a:ea typeface="+mn-lt"/>
                <a:cs typeface="+mn-lt"/>
              </a:rPr>
              <a:t>high predictive accuracy</a:t>
            </a:r>
            <a:r>
              <a:rPr lang="en-US" sz="2400">
                <a:ea typeface="+mn-lt"/>
                <a:cs typeface="+mn-lt"/>
              </a:rPr>
              <a:t>, particularly for impairment, improving confidence in provisioning estimates.</a:t>
            </a:r>
          </a:p>
          <a:p>
            <a:r>
              <a:rPr lang="en-US" sz="2400">
                <a:ea typeface="+mn-lt"/>
                <a:cs typeface="+mn-lt"/>
              </a:rPr>
              <a:t>The solution was viewed as </a:t>
            </a:r>
            <a:r>
              <a:rPr lang="en-US" sz="2400" b="1">
                <a:ea typeface="+mn-lt"/>
                <a:cs typeface="+mn-lt"/>
              </a:rPr>
              <a:t>suitable for decision-support</a:t>
            </a:r>
            <a:r>
              <a:rPr lang="en-US" sz="2400">
                <a:ea typeface="+mn-lt"/>
                <a:cs typeface="+mn-lt"/>
              </a:rPr>
              <a:t>, early risk identification, and internal analysis.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ED2114-3430-B583-21F4-8DD0AA2B0B40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IT22198518</a:t>
            </a:r>
            <a:r>
              <a:rPr lang="en-US">
                <a:solidFill>
                  <a:schemeClr val="tx1"/>
                </a:solidFill>
              </a:rPr>
              <a:t>   </a:t>
            </a:r>
            <a:r>
              <a:rPr lang="en-US" sz="1800">
                <a:solidFill>
                  <a:schemeClr val="tx1"/>
                </a:solidFill>
              </a:rPr>
              <a:t>| </a:t>
            </a:r>
            <a:r>
              <a:rPr lang="en-US">
                <a:solidFill>
                  <a:schemeClr val="tx1"/>
                </a:solidFill>
              </a:rPr>
              <a:t>W.A.L.D. </a:t>
            </a:r>
            <a:r>
              <a:rPr lang="en-US" err="1">
                <a:solidFill>
                  <a:schemeClr val="tx1"/>
                </a:solidFill>
              </a:rPr>
              <a:t>Semasingha</a:t>
            </a:r>
            <a:r>
              <a:rPr lang="en-US" sz="1800" b="1">
                <a:solidFill>
                  <a:schemeClr val="tx1"/>
                </a:solidFill>
              </a:rPr>
              <a:t>   </a:t>
            </a:r>
            <a:r>
              <a:rPr lang="en-US" sz="1800">
                <a:solidFill>
                  <a:schemeClr val="tx1"/>
                </a:solidFill>
              </a:rPr>
              <a:t>| </a:t>
            </a:r>
            <a:r>
              <a:rPr lang="en-US">
                <a:solidFill>
                  <a:schemeClr val="tx1"/>
                </a:solidFill>
              </a:rPr>
              <a:t>25-26J-179</a:t>
            </a:r>
            <a:endParaRPr lang="en-US">
              <a:solidFill>
                <a:schemeClr val="tx1"/>
              </a:solidFill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530717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755AF9-6AEA-4BCA-A1A2-C57A58214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dobe Devanagari"/>
              </a:rPr>
              <a:t>IT22129130 – </a:t>
            </a:r>
            <a:r>
              <a:rPr lang="en-US" err="1">
                <a:latin typeface="Adobe Devanagari"/>
              </a:rPr>
              <a:t>Maharambage</a:t>
            </a:r>
            <a:r>
              <a:rPr lang="en-US">
                <a:latin typeface="Adobe Devanagari"/>
              </a:rPr>
              <a:t> K.N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A91C59-28F0-4A9C-ACA2-19A536A0C3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>
                <a:ea typeface="+mn-lt"/>
                <a:cs typeface="+mn-lt"/>
              </a:rPr>
              <a:t>B.Sc. (Hons) Degree in Information Technology Specialization in Information Technology</a:t>
            </a:r>
            <a:endParaRPr lang="en-US">
              <a:ea typeface="Cambria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BAACE6-3A32-4B05-86B9-0627EA641BA0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IT22129130</a:t>
            </a:r>
            <a:r>
              <a:rPr lang="en-US" sz="1800">
                <a:solidFill>
                  <a:schemeClr val="tx1"/>
                </a:solidFill>
              </a:rPr>
              <a:t>   | </a:t>
            </a:r>
            <a:r>
              <a:rPr lang="en-US" err="1">
                <a:solidFill>
                  <a:schemeClr val="tx1"/>
                </a:solidFill>
              </a:rPr>
              <a:t>Maharambage</a:t>
            </a:r>
            <a:r>
              <a:rPr lang="en-US">
                <a:solidFill>
                  <a:schemeClr val="tx1"/>
                </a:solidFill>
              </a:rPr>
              <a:t> K.N</a:t>
            </a:r>
            <a:r>
              <a:rPr lang="en-US" b="1">
                <a:solidFill>
                  <a:schemeClr val="tx1"/>
                </a:solidFill>
              </a:rPr>
              <a:t> </a:t>
            </a:r>
            <a:r>
              <a:rPr lang="en-US" sz="1800" b="1">
                <a:solidFill>
                  <a:schemeClr val="tx1"/>
                </a:solidFill>
              </a:rPr>
              <a:t>  </a:t>
            </a:r>
            <a:r>
              <a:rPr lang="en-US" sz="1800">
                <a:solidFill>
                  <a:schemeClr val="tx1"/>
                </a:solidFill>
              </a:rPr>
              <a:t>| 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25-26J-179</a:t>
            </a:r>
            <a:endParaRPr lang="en-US" sz="1800" b="0">
              <a:solidFill>
                <a:schemeClr val="tx1"/>
              </a:solidFill>
            </a:endParaRPr>
          </a:p>
        </p:txBody>
      </p:sp>
      <p:pic>
        <p:nvPicPr>
          <p:cNvPr id="2" name="Picture 1" descr="A person with long hair smiling&#10;&#10;AI-generated content may be incorrect.">
            <a:extLst>
              <a:ext uri="{FF2B5EF4-FFF2-40B4-BE49-F238E27FC236}">
                <a16:creationId xmlns:a16="http://schemas.microsoft.com/office/drawing/2014/main" id="{6D4E2C34-E450-3EF7-9015-B1B54772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7950" y="120321"/>
            <a:ext cx="2140250" cy="2419170"/>
          </a:xfrm>
          <a:prstGeom prst="rect">
            <a:avLst/>
          </a:prstGeom>
        </p:spPr>
      </p:pic>
      <p:sp>
        <p:nvSpPr>
          <p:cNvPr id="7" name="Title 4">
            <a:extLst>
              <a:ext uri="{FF2B5EF4-FFF2-40B4-BE49-F238E27FC236}">
                <a16:creationId xmlns:a16="http://schemas.microsoft.com/office/drawing/2014/main" id="{D46E25B4-7AB7-CAAA-F667-A8C52AD84510}"/>
              </a:ext>
            </a:extLst>
          </p:cNvPr>
          <p:cNvSpPr txBox="1">
            <a:spLocks/>
          </p:cNvSpPr>
          <p:nvPr/>
        </p:nvSpPr>
        <p:spPr>
          <a:xfrm>
            <a:off x="964133" y="4051289"/>
            <a:ext cx="4328755" cy="77496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 sz="2400">
                <a:solidFill>
                  <a:srgbClr val="000000"/>
                </a:solidFill>
                <a:latin typeface="Aptos"/>
              </a:rPr>
              <a:t>Default risk prediction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680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9D234-C01E-978D-CBC0-965A6B971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76CA30-324E-643A-36F2-F18855B68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291" y="846826"/>
            <a:ext cx="11684000" cy="868362"/>
          </a:xfrm>
        </p:spPr>
        <p:txBody>
          <a:bodyPr>
            <a:normAutofit fontScale="90000"/>
          </a:bodyPr>
          <a:lstStyle/>
          <a:p>
            <a:pPr algn="l"/>
            <a:r>
              <a:rPr lang="en-US" b="1" cap="all">
                <a:latin typeface="Adobe Devanagari"/>
              </a:rPr>
              <a:t>Default Risk Prediction</a:t>
            </a:r>
            <a:br>
              <a:rPr lang="en-US" b="1" cap="all">
                <a:latin typeface="Adobe Devanagari"/>
              </a:rPr>
            </a:br>
            <a:endParaRPr lang="en-US">
              <a:latin typeface="Adobe Devanagari"/>
            </a:endParaRPr>
          </a:p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823FED-5E95-A009-0AA3-F9A27E58F55B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IT22129130</a:t>
            </a:r>
            <a:r>
              <a:rPr lang="en-US" sz="1800">
                <a:solidFill>
                  <a:schemeClr val="tx1"/>
                </a:solidFill>
              </a:rPr>
              <a:t>   | </a:t>
            </a:r>
            <a:r>
              <a:rPr lang="en-US" err="1">
                <a:solidFill>
                  <a:schemeClr val="tx1"/>
                </a:solidFill>
              </a:rPr>
              <a:t>Maharambage</a:t>
            </a:r>
            <a:r>
              <a:rPr lang="en-US">
                <a:solidFill>
                  <a:schemeClr val="tx1"/>
                </a:solidFill>
              </a:rPr>
              <a:t> K.N</a:t>
            </a:r>
            <a:r>
              <a:rPr lang="en-US" b="1">
                <a:solidFill>
                  <a:schemeClr val="tx1"/>
                </a:solidFill>
              </a:rPr>
              <a:t> </a:t>
            </a:r>
            <a:r>
              <a:rPr lang="en-US" sz="1800" b="1">
                <a:solidFill>
                  <a:schemeClr val="tx1"/>
                </a:solidFill>
              </a:rPr>
              <a:t>  </a:t>
            </a:r>
            <a:r>
              <a:rPr lang="en-US" sz="1800">
                <a:solidFill>
                  <a:schemeClr val="tx1"/>
                </a:solidFill>
              </a:rPr>
              <a:t>| </a:t>
            </a:r>
            <a:r>
              <a:rPr lang="en-US">
                <a:solidFill>
                  <a:schemeClr val="tx1"/>
                </a:solidFill>
              </a:rPr>
              <a:t>25-26J-179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DCAE5D2C-176B-52D6-0FA0-68B55FDEA222}"/>
              </a:ext>
            </a:extLst>
          </p:cNvPr>
          <p:cNvSpPr txBox="1"/>
          <p:nvPr/>
        </p:nvSpPr>
        <p:spPr>
          <a:xfrm>
            <a:off x="771688" y="1159807"/>
            <a:ext cx="9862523" cy="575542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000" b="1">
                <a:solidFill>
                  <a:srgbClr val="000000"/>
                </a:solidFill>
                <a:ea typeface="+mn-lt"/>
                <a:cs typeface="+mn-lt"/>
              </a:rPr>
              <a:t>How the Solution Solves the Problem</a:t>
            </a:r>
            <a:endParaRPr lang="en-US" sz="3000" b="1"/>
          </a:p>
          <a:p>
            <a:pPr marL="285750" indent="-285750">
              <a:buFont typeface="Arial"/>
              <a:buChar char="•"/>
            </a:pPr>
            <a:r>
              <a:rPr lang="en-US">
                <a:ea typeface="Cambria"/>
              </a:rPr>
              <a:t>Traditional rule-based credit scoring with a machine learning model.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Combines financial and behavioral data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Predicts default risk early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Provides Probability of Default (PD) score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Supports real-time decision making</a:t>
            </a:r>
            <a:endParaRPr lang="en-US"/>
          </a:p>
          <a:p>
            <a:endParaRPr lang="en-US">
              <a:ea typeface="Cambria"/>
            </a:endParaRPr>
          </a:p>
          <a:p>
            <a:r>
              <a:rPr lang="en-US" sz="3000" b="1">
                <a:ea typeface="+mn-lt"/>
                <a:cs typeface="+mn-lt"/>
              </a:rPr>
              <a:t>User Requirements</a:t>
            </a:r>
            <a:endParaRPr lang="en-US" sz="3000" b="1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Easy-to-use web application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Accurate default risk prediction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Real-time risk assessment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Secure access to data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Reliable system availability</a:t>
            </a:r>
            <a:endParaRPr lang="en-US"/>
          </a:p>
          <a:p>
            <a:endParaRPr lang="en-US" sz="3000" b="1">
              <a:ea typeface="+mn-lt"/>
              <a:cs typeface="+mn-lt"/>
            </a:endParaRPr>
          </a:p>
          <a:p>
            <a:r>
              <a:rPr lang="en-US" sz="2000">
                <a:ea typeface="+mn-lt"/>
                <a:cs typeface="+mn-lt"/>
              </a:rPr>
              <a:t> </a:t>
            </a:r>
          </a:p>
          <a:p>
            <a:pPr marL="742950" lvl="1" indent="-285750">
              <a:buFont typeface="Arial"/>
              <a:buChar char="•"/>
            </a:pPr>
            <a:endParaRPr lang="en-US">
              <a:ea typeface="Cambria"/>
            </a:endParaRPr>
          </a:p>
          <a:p>
            <a:endParaRPr lang="en-US">
              <a:ea typeface="+mn-lt"/>
              <a:cs typeface="+mn-lt"/>
            </a:endParaRPr>
          </a:p>
          <a:p>
            <a:endParaRPr lang="en-US" sz="2400" b="1">
              <a:ea typeface="+mn-lt"/>
              <a:cs typeface="+mn-lt"/>
            </a:endParaRPr>
          </a:p>
        </p:txBody>
      </p:sp>
      <p:pic>
        <p:nvPicPr>
          <p:cNvPr id="2" name="Picture 1" descr="A person and person sitting at a table with laptops&#10;&#10;AI-generated content may be incorrect.">
            <a:extLst>
              <a:ext uri="{FF2B5EF4-FFF2-40B4-BE49-F238E27FC236}">
                <a16:creationId xmlns:a16="http://schemas.microsoft.com/office/drawing/2014/main" id="{3B27ADA7-10FE-895F-6CE3-16E042AAAC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38490" y="2147925"/>
            <a:ext cx="5434641" cy="3582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105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3A49A-31FA-46EF-674D-2738D93D8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CB8F5C1-5304-A6B8-68D9-77AA656F2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291" y="846826"/>
            <a:ext cx="11684000" cy="868362"/>
          </a:xfrm>
        </p:spPr>
        <p:txBody>
          <a:bodyPr>
            <a:normAutofit fontScale="90000"/>
          </a:bodyPr>
          <a:lstStyle/>
          <a:p>
            <a:pPr algn="l"/>
            <a:r>
              <a:rPr lang="en-US" b="1" cap="all">
                <a:latin typeface="Adobe Devanagari"/>
              </a:rPr>
              <a:t>Default Risk Prediction</a:t>
            </a:r>
            <a:br>
              <a:rPr lang="en-US" b="1" cap="all">
                <a:latin typeface="Adobe Devanagari"/>
              </a:rPr>
            </a:br>
            <a:endParaRPr lang="en-US">
              <a:latin typeface="Adobe Devanagari"/>
            </a:endParaRPr>
          </a:p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91862C-E07C-6556-4964-E4CC3E5FBD97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IT22129130</a:t>
            </a:r>
            <a:r>
              <a:rPr lang="en-US" sz="1800">
                <a:solidFill>
                  <a:schemeClr val="tx1"/>
                </a:solidFill>
              </a:rPr>
              <a:t>   | </a:t>
            </a:r>
            <a:r>
              <a:rPr lang="en-US" err="1">
                <a:solidFill>
                  <a:schemeClr val="tx1"/>
                </a:solidFill>
              </a:rPr>
              <a:t>Maharambage</a:t>
            </a:r>
            <a:r>
              <a:rPr lang="en-US">
                <a:solidFill>
                  <a:schemeClr val="tx1"/>
                </a:solidFill>
              </a:rPr>
              <a:t> K.N</a:t>
            </a:r>
            <a:r>
              <a:rPr lang="en-US" b="1">
                <a:solidFill>
                  <a:schemeClr val="tx1"/>
                </a:solidFill>
              </a:rPr>
              <a:t> </a:t>
            </a:r>
            <a:r>
              <a:rPr lang="en-US" sz="1800" b="1">
                <a:solidFill>
                  <a:schemeClr val="tx1"/>
                </a:solidFill>
              </a:rPr>
              <a:t>  </a:t>
            </a:r>
            <a:r>
              <a:rPr lang="en-US" sz="1800">
                <a:solidFill>
                  <a:schemeClr val="tx1"/>
                </a:solidFill>
              </a:rPr>
              <a:t>| </a:t>
            </a:r>
            <a:r>
              <a:rPr lang="en-US">
                <a:solidFill>
                  <a:schemeClr val="tx1"/>
                </a:solidFill>
              </a:rPr>
              <a:t>25-26J-179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1B750711-7EF3-CAE9-6E03-68B6D613916F}"/>
              </a:ext>
            </a:extLst>
          </p:cNvPr>
          <p:cNvSpPr txBox="1"/>
          <p:nvPr/>
        </p:nvSpPr>
        <p:spPr>
          <a:xfrm>
            <a:off x="921485" y="1225087"/>
            <a:ext cx="9862523" cy="5940088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000" b="1">
                <a:solidFill>
                  <a:srgbClr val="000000"/>
                </a:solidFill>
                <a:ea typeface="+mn-lt"/>
                <a:cs typeface="+mn-lt"/>
              </a:rPr>
              <a:t>Design Excellence</a:t>
            </a:r>
            <a:endParaRPr lang="en-US" b="1"/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Simple and clean user interface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Built using multiple ML models including </a:t>
            </a:r>
            <a:r>
              <a:rPr lang="en-US" sz="2000" b="1">
                <a:ea typeface="+mn-lt"/>
                <a:cs typeface="+mn-lt"/>
              </a:rPr>
              <a:t>Random Forest, </a:t>
            </a:r>
            <a:r>
              <a:rPr lang="en-US" sz="2000" b="1" err="1">
                <a:ea typeface="+mn-lt"/>
                <a:cs typeface="+mn-lt"/>
              </a:rPr>
              <a:t>XGBoost</a:t>
            </a:r>
            <a:r>
              <a:rPr lang="en-US" sz="2000" b="1">
                <a:ea typeface="+mn-lt"/>
                <a:cs typeface="+mn-lt"/>
              </a:rPr>
              <a:t>, Decision Tree, and Logistic Regression</a:t>
            </a:r>
            <a:r>
              <a:rPr lang="en-US" sz="2000"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Models trained on </a:t>
            </a:r>
            <a:r>
              <a:rPr lang="en-US" sz="2000" b="1">
                <a:ea typeface="+mn-lt"/>
                <a:cs typeface="+mn-lt"/>
              </a:rPr>
              <a:t>large historical leasing datasets</a:t>
            </a:r>
            <a:r>
              <a:rPr lang="en-US" sz="2000">
                <a:ea typeface="+mn-lt"/>
                <a:cs typeface="+mn-lt"/>
              </a:rPr>
              <a:t> for stronger pattern detection.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Compared performance across models to ensure </a:t>
            </a:r>
            <a:r>
              <a:rPr lang="en-US" sz="2000" b="1">
                <a:ea typeface="+mn-lt"/>
                <a:cs typeface="+mn-lt"/>
              </a:rPr>
              <a:t>high accuracy and reliability</a:t>
            </a:r>
            <a:r>
              <a:rPr lang="en-US" sz="2000"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Selected best-performing approaches to deliver </a:t>
            </a:r>
            <a:r>
              <a:rPr lang="en-US" sz="2000" b="1">
                <a:ea typeface="+mn-lt"/>
                <a:cs typeface="+mn-lt"/>
              </a:rPr>
              <a:t>consistent default risk identification</a:t>
            </a:r>
            <a:r>
              <a:rPr lang="en-US" sz="2000">
                <a:ea typeface="+mn-lt"/>
                <a:cs typeface="+mn-lt"/>
              </a:rPr>
              <a:t>.</a:t>
            </a:r>
            <a:endParaRPr lang="en-US">
              <a:ea typeface="Cambria"/>
            </a:endParaRPr>
          </a:p>
          <a:p>
            <a:endParaRPr lang="en-US">
              <a:ea typeface="Cambria"/>
            </a:endParaRPr>
          </a:p>
          <a:p>
            <a:r>
              <a:rPr lang="en-US" sz="3000" b="1">
                <a:ea typeface="+mn-lt"/>
                <a:cs typeface="+mn-lt"/>
              </a:rPr>
              <a:t>User Feedback</a:t>
            </a:r>
            <a:endParaRPr lang="en-US" b="1"/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Easy to understand and use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Helpful for quick decision making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Clear explanation of risk predictions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Saves time for credit officers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Improves confidence in decisions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 </a:t>
            </a:r>
            <a:endParaRPr lang="en-US"/>
          </a:p>
          <a:p>
            <a:endParaRPr lang="en-US">
              <a:ea typeface="+mn-lt"/>
              <a:cs typeface="+mn-lt"/>
            </a:endParaRPr>
          </a:p>
          <a:p>
            <a:endParaRPr lang="en-US" sz="2400" b="1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291119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51E3E-BB42-C396-0182-5F3DF140A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86EA063-11B0-2B72-8DB0-C5B0E80E9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dobe Devanagari"/>
              </a:rPr>
              <a:t>Weerasinghe m p - it22087560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619DC1-7B27-1822-91E9-8546BF1688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+mn-lt"/>
                <a:cs typeface="+mn-lt"/>
              </a:rPr>
              <a:t>BSc (Hons) in Information Technology Specializing in Information Technology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D216C8-A710-1D62-4EBF-F083ED929186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IT22087560</a:t>
            </a:r>
            <a:r>
              <a:rPr lang="en-US">
                <a:solidFill>
                  <a:schemeClr val="tx1"/>
                </a:solidFill>
              </a:rPr>
              <a:t>   </a:t>
            </a:r>
            <a:r>
              <a:rPr lang="en-US" sz="1800">
                <a:solidFill>
                  <a:schemeClr val="tx1"/>
                </a:solidFill>
              </a:rPr>
              <a:t>| </a:t>
            </a:r>
            <a:r>
              <a:rPr lang="en-US" b="1">
                <a:solidFill>
                  <a:schemeClr val="tx1"/>
                </a:solidFill>
              </a:rPr>
              <a:t>WEERASINGHE M P </a:t>
            </a:r>
            <a:r>
              <a:rPr lang="en-US" sz="1800" b="1">
                <a:solidFill>
                  <a:schemeClr val="tx1"/>
                </a:solidFill>
              </a:rPr>
              <a:t>  </a:t>
            </a:r>
            <a:r>
              <a:rPr lang="en-US" sz="1800">
                <a:solidFill>
                  <a:schemeClr val="tx1"/>
                </a:solidFill>
              </a:rPr>
              <a:t>| </a:t>
            </a:r>
            <a:r>
              <a:rPr lang="en-US">
                <a:solidFill>
                  <a:schemeClr val="tx1"/>
                </a:solidFill>
              </a:rPr>
              <a:t>25-26J-179</a:t>
            </a:r>
            <a:endParaRPr lang="en-US" sz="1800" b="0">
              <a:solidFill>
                <a:schemeClr val="tx1"/>
              </a:solidFill>
            </a:endParaRPr>
          </a:p>
        </p:txBody>
      </p:sp>
      <p:pic>
        <p:nvPicPr>
          <p:cNvPr id="2" name="Picture 1" descr="A person smiling at camera&#10;&#10;AI-generated content may be incorrect.">
            <a:extLst>
              <a:ext uri="{FF2B5EF4-FFF2-40B4-BE49-F238E27FC236}">
                <a16:creationId xmlns:a16="http://schemas.microsoft.com/office/drawing/2014/main" id="{EF247274-6F71-DA65-AEE2-41B5CCD1C1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455" b="16949"/>
          <a:stretch>
            <a:fillRect/>
          </a:stretch>
        </p:blipFill>
        <p:spPr>
          <a:xfrm>
            <a:off x="10093926" y="133118"/>
            <a:ext cx="2095526" cy="2316895"/>
          </a:xfrm>
          <a:prstGeom prst="rect">
            <a:avLst/>
          </a:prstGeom>
        </p:spPr>
      </p:pic>
      <p:sp>
        <p:nvSpPr>
          <p:cNvPr id="7" name="Title 4">
            <a:extLst>
              <a:ext uri="{FF2B5EF4-FFF2-40B4-BE49-F238E27FC236}">
                <a16:creationId xmlns:a16="http://schemas.microsoft.com/office/drawing/2014/main" id="{07CBBA69-D051-EA2E-BDD0-00A1E747CCC5}"/>
              </a:ext>
            </a:extLst>
          </p:cNvPr>
          <p:cNvSpPr txBox="1">
            <a:spLocks/>
          </p:cNvSpPr>
          <p:nvPr/>
        </p:nvSpPr>
        <p:spPr>
          <a:xfrm>
            <a:off x="964133" y="4051289"/>
            <a:ext cx="5366842" cy="77496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 sz="2400">
                <a:solidFill>
                  <a:srgbClr val="000000"/>
                </a:solidFill>
                <a:latin typeface="Aptos"/>
              </a:rPr>
              <a:t>Branch Performance Analysis</a:t>
            </a:r>
            <a:endParaRPr lang="en-US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140135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B4DE6-E009-A478-1185-E047C5C2F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4">
            <a:extLst>
              <a:ext uri="{FF2B5EF4-FFF2-40B4-BE49-F238E27FC236}">
                <a16:creationId xmlns:a16="http://schemas.microsoft.com/office/drawing/2014/main" id="{BC48B3D1-B514-A98B-48B2-F24CFCFC15B0}"/>
              </a:ext>
            </a:extLst>
          </p:cNvPr>
          <p:cNvSpPr>
            <a:spLocks noGrp="1"/>
          </p:cNvSpPr>
          <p:nvPr/>
        </p:nvSpPr>
        <p:spPr>
          <a:xfrm>
            <a:off x="293760" y="252465"/>
            <a:ext cx="10363200" cy="13620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dobe Devanagari"/>
              </a:rPr>
              <a:t>Branch Performance Analysis</a:t>
            </a:r>
            <a:br>
              <a:rPr lang="en-US"/>
            </a:br>
            <a:endParaRPr lang="en-US"/>
          </a:p>
        </p:txBody>
      </p:sp>
      <p:sp>
        <p:nvSpPr>
          <p:cNvPr id="9" name="TextBox 17">
            <a:extLst>
              <a:ext uri="{FF2B5EF4-FFF2-40B4-BE49-F238E27FC236}">
                <a16:creationId xmlns:a16="http://schemas.microsoft.com/office/drawing/2014/main" id="{8812FBB0-FE72-A869-4210-A8FB774A1E0B}"/>
              </a:ext>
            </a:extLst>
          </p:cNvPr>
          <p:cNvSpPr txBox="1"/>
          <p:nvPr/>
        </p:nvSpPr>
        <p:spPr>
          <a:xfrm>
            <a:off x="972971" y="1389844"/>
            <a:ext cx="9862523" cy="44627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000" b="1">
                <a:solidFill>
                  <a:srgbClr val="000000"/>
                </a:solidFill>
                <a:ea typeface="+mn-lt"/>
                <a:cs typeface="+mn-lt"/>
              </a:rPr>
              <a:t>How the Solution Solves the Problem</a:t>
            </a:r>
            <a:endParaRPr lang="en-US" sz="3000" b="1"/>
          </a:p>
          <a:p>
            <a:endParaRPr lang="en-US"/>
          </a:p>
          <a:p>
            <a:pPr marL="45720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   Uses smart clustering + machine learning to auto-classify branch performance in real time</a:t>
            </a:r>
          </a:p>
          <a:p>
            <a:pPr lvl="1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   Replaces static reports &amp; manual comparisons with live dashboards</a:t>
            </a:r>
            <a:endParaRPr lang="en-US"/>
          </a:p>
          <a:p>
            <a:pPr lvl="1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   Simple interface — no technical skills needed</a:t>
            </a:r>
            <a:endParaRPr lang="en-US"/>
          </a:p>
          <a:p>
            <a:pPr lvl="1"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pPr lvl="1"/>
            <a:endParaRPr lang="en-US">
              <a:ea typeface="+mn-lt"/>
              <a:cs typeface="+mn-lt"/>
            </a:endParaRPr>
          </a:p>
          <a:p>
            <a:r>
              <a:rPr lang="en-US" sz="3000" b="1">
                <a:ea typeface="+mn-lt"/>
                <a:cs typeface="+mn-lt"/>
              </a:rPr>
              <a:t>User Requirements</a:t>
            </a:r>
            <a:endParaRPr lang="en-US" sz="3000" b="1"/>
          </a:p>
          <a:p>
            <a:r>
              <a:rPr lang="en-US" sz="2000">
                <a:ea typeface="+mn-lt"/>
                <a:cs typeface="+mn-lt"/>
              </a:rPr>
              <a:t> </a:t>
            </a:r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Easy access on any device </a:t>
            </a:r>
            <a:endParaRPr lang="en-US">
              <a:ea typeface="Cambria"/>
            </a:endParaRPr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Instant performance insights and alerts</a:t>
            </a:r>
            <a:endParaRPr lang="en-US">
              <a:ea typeface="Cambria"/>
            </a:endParaRPr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Clear, actionable data for decision-making</a:t>
            </a:r>
            <a:endParaRPr lang="en-US">
              <a:ea typeface="Cambria"/>
            </a:endParaRPr>
          </a:p>
          <a:p>
            <a:endParaRPr lang="en-US">
              <a:ea typeface="+mn-lt"/>
              <a:cs typeface="+mn-lt"/>
            </a:endParaRPr>
          </a:p>
          <a:p>
            <a:endParaRPr lang="en-US" sz="2400" b="1">
              <a:ea typeface="+mn-lt"/>
              <a:cs typeface="+mn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212501-AF37-2809-477A-B5B96C6FA42C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IT22087560</a:t>
            </a:r>
            <a:r>
              <a:rPr lang="en-US">
                <a:solidFill>
                  <a:schemeClr val="tx1"/>
                </a:solidFill>
              </a:rPr>
              <a:t>   </a:t>
            </a:r>
            <a:r>
              <a:rPr lang="en-US" sz="1800">
                <a:solidFill>
                  <a:schemeClr val="tx1"/>
                </a:solidFill>
              </a:rPr>
              <a:t>| </a:t>
            </a:r>
            <a:r>
              <a:rPr lang="en-US" b="1">
                <a:solidFill>
                  <a:schemeClr val="tx1"/>
                </a:solidFill>
              </a:rPr>
              <a:t>WEERASINGHE M P </a:t>
            </a:r>
            <a:r>
              <a:rPr lang="en-US" sz="1800" b="1">
                <a:solidFill>
                  <a:schemeClr val="tx1"/>
                </a:solidFill>
              </a:rPr>
              <a:t>  </a:t>
            </a:r>
            <a:r>
              <a:rPr lang="en-US" sz="1800">
                <a:solidFill>
                  <a:schemeClr val="tx1"/>
                </a:solidFill>
              </a:rPr>
              <a:t>| </a:t>
            </a:r>
            <a:r>
              <a:rPr lang="en-US">
                <a:solidFill>
                  <a:schemeClr val="tx1"/>
                </a:solidFill>
              </a:rPr>
              <a:t>25-26J-179</a:t>
            </a:r>
            <a:endParaRPr lang="en-US" sz="1800" b="0">
              <a:solidFill>
                <a:schemeClr val="tx1"/>
              </a:solidFill>
            </a:endParaRPr>
          </a:p>
        </p:txBody>
      </p:sp>
      <p:pic>
        <p:nvPicPr>
          <p:cNvPr id="4" name="Picture 3" descr="A group of people working on a computer&#10;&#10;AI-generated content may be incorrect.">
            <a:extLst>
              <a:ext uri="{FF2B5EF4-FFF2-40B4-BE49-F238E27FC236}">
                <a16:creationId xmlns:a16="http://schemas.microsoft.com/office/drawing/2014/main" id="{6A34397C-1A2E-CE47-ACE8-A32476A4F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671" y="3049107"/>
            <a:ext cx="5427564" cy="3075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545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7D5A4-65B4-0CE5-26A8-6671B0423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4">
            <a:extLst>
              <a:ext uri="{FF2B5EF4-FFF2-40B4-BE49-F238E27FC236}">
                <a16:creationId xmlns:a16="http://schemas.microsoft.com/office/drawing/2014/main" id="{064DA7CF-688F-15C4-CDE4-A1AD964C271E}"/>
              </a:ext>
            </a:extLst>
          </p:cNvPr>
          <p:cNvSpPr>
            <a:spLocks noGrp="1"/>
          </p:cNvSpPr>
          <p:nvPr/>
        </p:nvSpPr>
        <p:spPr>
          <a:xfrm>
            <a:off x="293760" y="252465"/>
            <a:ext cx="10363200" cy="13620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dobe Devanagari"/>
              </a:rPr>
              <a:t>Branch Performance Analysis</a:t>
            </a:r>
            <a:br>
              <a:rPr lang="en-US"/>
            </a:br>
            <a:endParaRPr lang="en-US"/>
          </a:p>
        </p:txBody>
      </p:sp>
      <p:sp>
        <p:nvSpPr>
          <p:cNvPr id="9" name="TextBox 17">
            <a:extLst>
              <a:ext uri="{FF2B5EF4-FFF2-40B4-BE49-F238E27FC236}">
                <a16:creationId xmlns:a16="http://schemas.microsoft.com/office/drawing/2014/main" id="{CB591A50-FA7C-DCD9-1E72-7FE71493C59F}"/>
              </a:ext>
            </a:extLst>
          </p:cNvPr>
          <p:cNvSpPr txBox="1"/>
          <p:nvPr/>
        </p:nvSpPr>
        <p:spPr>
          <a:xfrm>
            <a:off x="921485" y="1225087"/>
            <a:ext cx="9862523" cy="529375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000" b="1">
                <a:solidFill>
                  <a:srgbClr val="000000"/>
                </a:solidFill>
                <a:ea typeface="+mn-lt"/>
                <a:cs typeface="+mn-lt"/>
              </a:rPr>
              <a:t>Design Excellence</a:t>
            </a:r>
            <a:endParaRPr lang="en-US" b="1"/>
          </a:p>
          <a:p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    Integrates multiple ML models (Random Forest, </a:t>
            </a:r>
            <a:r>
              <a:rPr lang="en-US" err="1">
                <a:ea typeface="+mn-lt"/>
                <a:cs typeface="+mn-lt"/>
              </a:rPr>
              <a:t>XGBoost</a:t>
            </a:r>
            <a:r>
              <a:rPr lang="en-US">
                <a:ea typeface="+mn-lt"/>
                <a:cs typeface="+mn-lt"/>
              </a:rPr>
              <a:t>, etc.)</a:t>
            </a: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    99.99% accuracy with 99.87% poor detection rate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    Combines clustering + classification for smart insights</a:t>
            </a:r>
            <a:endParaRPr lang="en-US"/>
          </a:p>
          <a:p>
            <a:pPr lvl="1"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r>
              <a:rPr lang="en-US" sz="3000" b="1">
                <a:ea typeface="+mn-lt"/>
                <a:cs typeface="+mn-lt"/>
              </a:rPr>
              <a:t>User Feedback</a:t>
            </a:r>
            <a:endParaRPr lang="en-US" b="1"/>
          </a:p>
          <a:p>
            <a:r>
              <a:rPr lang="en-US" sz="2000">
                <a:ea typeface="+mn-lt"/>
                <a:cs typeface="+mn-lt"/>
              </a:rPr>
              <a:t> </a:t>
            </a:r>
          </a:p>
          <a:p>
            <a:pPr marL="45720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    Managers say it’s easy to use and saves time</a:t>
            </a:r>
          </a:p>
          <a:p>
            <a:pPr lvl="1">
              <a:buFont typeface="Arial"/>
              <a:buChar char="•"/>
            </a:pPr>
            <a:endParaRPr lang="en-US"/>
          </a:p>
          <a:p>
            <a:pPr lvl="1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    Real-time dashboards help make decisions faster</a:t>
            </a:r>
            <a:endParaRPr lang="en-US"/>
          </a:p>
          <a:p>
            <a:pPr lvl="1">
              <a:buFont typeface="Arial"/>
              <a:buChar char="•"/>
            </a:pPr>
            <a:endParaRPr lang="en-US"/>
          </a:p>
          <a:p>
            <a:pPr lvl="1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    Clustering helps spot underperformers quickly</a:t>
            </a:r>
            <a:endParaRPr lang="en-US"/>
          </a:p>
          <a:p>
            <a:pPr lvl="1">
              <a:buFont typeface="Arial"/>
              <a:buChar char="•"/>
            </a:pPr>
            <a:endParaRPr lang="en-US"/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System is intuitive and replaces manual reports</a:t>
            </a:r>
            <a:endParaRPr lang="en-US"/>
          </a:p>
          <a:p>
            <a:endParaRPr lang="en-US">
              <a:ea typeface="+mn-lt"/>
              <a:cs typeface="+mn-lt"/>
            </a:endParaRPr>
          </a:p>
          <a:p>
            <a:endParaRPr lang="en-US" sz="2400" b="1">
              <a:ea typeface="+mn-lt"/>
              <a:cs typeface="+mn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BEA8D7-46A0-0392-994D-0B5BFA0C8451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IT22087560</a:t>
            </a:r>
            <a:r>
              <a:rPr lang="en-US">
                <a:solidFill>
                  <a:schemeClr val="tx1"/>
                </a:solidFill>
              </a:rPr>
              <a:t>   </a:t>
            </a:r>
            <a:r>
              <a:rPr lang="en-US" sz="1800">
                <a:solidFill>
                  <a:schemeClr val="tx1"/>
                </a:solidFill>
              </a:rPr>
              <a:t>| </a:t>
            </a:r>
            <a:r>
              <a:rPr lang="en-US" b="1">
                <a:solidFill>
                  <a:schemeClr val="tx1"/>
                </a:solidFill>
              </a:rPr>
              <a:t>WEERASINGHE M P </a:t>
            </a:r>
            <a:r>
              <a:rPr lang="en-US" sz="1800" b="1">
                <a:solidFill>
                  <a:schemeClr val="tx1"/>
                </a:solidFill>
              </a:rPr>
              <a:t>  </a:t>
            </a:r>
            <a:r>
              <a:rPr lang="en-US" sz="1800">
                <a:solidFill>
                  <a:schemeClr val="tx1"/>
                </a:solidFill>
              </a:rPr>
              <a:t>| </a:t>
            </a:r>
            <a:r>
              <a:rPr lang="en-US">
                <a:solidFill>
                  <a:schemeClr val="tx1"/>
                </a:solidFill>
              </a:rPr>
              <a:t>25-26J-179</a:t>
            </a:r>
            <a:endParaRPr lang="en-US" sz="1800" b="0">
              <a:solidFill>
                <a:schemeClr val="tx1"/>
              </a:solidFill>
            </a:endParaRPr>
          </a:p>
        </p:txBody>
      </p:sp>
      <p:pic>
        <p:nvPicPr>
          <p:cNvPr id="2" name="Picture 1" descr="Dashboard Examples: 100+ Examples and Templates to Explore | Klipfolio">
            <a:extLst>
              <a:ext uri="{FF2B5EF4-FFF2-40B4-BE49-F238E27FC236}">
                <a16:creationId xmlns:a16="http://schemas.microsoft.com/office/drawing/2014/main" id="{92ABAC28-75CB-533E-0A32-A7740E9BD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0407" y="2893647"/>
            <a:ext cx="4730452" cy="2604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8862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AA0F7-6994-ED4F-BDFF-8C505A9C5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DB55ADE-C592-D5A9-E90D-E7C50B4DB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2849578"/>
            <a:ext cx="10363200" cy="774962"/>
          </a:xfrm>
        </p:spPr>
        <p:txBody>
          <a:bodyPr>
            <a:normAutofit/>
          </a:bodyPr>
          <a:lstStyle/>
          <a:p>
            <a:r>
              <a:rPr lang="en-US">
                <a:latin typeface="Adobe Devanagari"/>
              </a:rPr>
              <a:t>IT22583796 - Erangi M G M 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CCCC24-6EF9-4503-4097-FE3864AD8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199" y="5162546"/>
            <a:ext cx="10374085" cy="574902"/>
          </a:xfrm>
        </p:spPr>
        <p:txBody>
          <a:bodyPr/>
          <a:lstStyle/>
          <a:p>
            <a:r>
              <a:rPr lang="en-US">
                <a:ea typeface="Cambria"/>
              </a:rPr>
              <a:t>B.Sc. (Hons) Degree in Information Technology Specialization in Information Technology</a:t>
            </a:r>
            <a:endParaRPr lang="en-US">
              <a:solidFill>
                <a:srgbClr val="000000"/>
              </a:solidFill>
              <a:ea typeface="Cambria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18BADE-DF0E-6AB9-D69F-522C485B25F3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>
                <a:solidFill>
                  <a:schemeClr val="tx1"/>
                </a:solidFill>
              </a:rPr>
              <a:t>IT22583796</a:t>
            </a:r>
            <a:r>
              <a:rPr lang="en-US" sz="1800">
                <a:solidFill>
                  <a:schemeClr val="tx1"/>
                </a:solidFill>
              </a:rPr>
              <a:t>   | </a:t>
            </a:r>
            <a:r>
              <a:rPr lang="en-US">
                <a:solidFill>
                  <a:schemeClr val="tx1"/>
                </a:solidFill>
              </a:rPr>
              <a:t>Erangi M G M </a:t>
            </a:r>
            <a:r>
              <a:rPr lang="en-US" sz="1800" b="1">
                <a:solidFill>
                  <a:schemeClr val="tx1"/>
                </a:solidFill>
              </a:rPr>
              <a:t>  </a:t>
            </a:r>
            <a:r>
              <a:rPr lang="en-US" sz="1800">
                <a:solidFill>
                  <a:schemeClr val="tx1"/>
                </a:solidFill>
              </a:rPr>
              <a:t>| </a:t>
            </a:r>
            <a:r>
              <a:rPr lang="en-US">
                <a:solidFill>
                  <a:schemeClr val="tx1"/>
                </a:solidFill>
              </a:rPr>
              <a:t>25-26J-179</a:t>
            </a:r>
            <a:endParaRPr lang="en-US" sz="1800" b="0">
              <a:solidFill>
                <a:schemeClr val="tx1"/>
              </a:solidFill>
            </a:endParaRPr>
          </a:p>
        </p:txBody>
      </p:sp>
      <p:pic>
        <p:nvPicPr>
          <p:cNvPr id="2" name="Picture 1" descr="A person with long black hair&#10;&#10;AI-generated content may be incorrect.">
            <a:extLst>
              <a:ext uri="{FF2B5EF4-FFF2-40B4-BE49-F238E27FC236}">
                <a16:creationId xmlns:a16="http://schemas.microsoft.com/office/drawing/2014/main" id="{6ABB5F9F-21A3-76FC-1B19-252AF2BED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1943" y="140678"/>
            <a:ext cx="2105129" cy="2719754"/>
          </a:xfrm>
          <a:prstGeom prst="rect">
            <a:avLst/>
          </a:prstGeom>
        </p:spPr>
      </p:pic>
      <p:sp>
        <p:nvSpPr>
          <p:cNvPr id="7" name="Title 4">
            <a:extLst>
              <a:ext uri="{FF2B5EF4-FFF2-40B4-BE49-F238E27FC236}">
                <a16:creationId xmlns:a16="http://schemas.microsoft.com/office/drawing/2014/main" id="{4463A3DE-ECB2-3558-3063-28052CA1F273}"/>
              </a:ext>
            </a:extLst>
          </p:cNvPr>
          <p:cNvSpPr txBox="1">
            <a:spLocks/>
          </p:cNvSpPr>
          <p:nvPr/>
        </p:nvSpPr>
        <p:spPr>
          <a:xfrm>
            <a:off x="953090" y="4051289"/>
            <a:ext cx="10513102" cy="77496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 sz="2400">
                <a:solidFill>
                  <a:srgbClr val="000000"/>
                </a:solidFill>
                <a:latin typeface="Aptos"/>
              </a:rPr>
              <a:t>AI-Driven Conversational Assistant for Automated Customer Inquiries in Financial Leasing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763043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DEA93-20E6-08B4-1937-516794559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b="1" cap="all">
                <a:latin typeface="Aptos"/>
              </a:rPr>
              <a:t>AI-Driven Conversational Assistant for Automated Customer Inquiries in Financial Leasing</a:t>
            </a:r>
            <a:endParaRPr lang="en-US" sz="2400"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1675C-EA5E-C789-CB5F-CBECB7B07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53731"/>
            <a:ext cx="11684000" cy="236055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000" b="1">
                <a:ea typeface="+mn-lt"/>
                <a:cs typeface="+mn-lt"/>
              </a:rPr>
              <a:t>How the Solution Solves the Problem</a:t>
            </a:r>
            <a:endParaRPr lang="en-US" sz="2000">
              <a:ea typeface="+mn-lt"/>
              <a:cs typeface="+mn-lt"/>
            </a:endParaRPr>
          </a:p>
          <a:p>
            <a:r>
              <a:rPr lang="en-US" sz="1800">
                <a:ea typeface="+mn-lt"/>
                <a:cs typeface="+mn-lt"/>
              </a:rPr>
              <a:t>Automates customer inquiries in financial leasing</a:t>
            </a:r>
            <a:endParaRPr lang="en-US" sz="1800">
              <a:ea typeface="Cambria"/>
            </a:endParaRPr>
          </a:p>
          <a:p>
            <a:r>
              <a:rPr lang="en-US" sz="1800">
                <a:ea typeface="+mn-lt"/>
                <a:cs typeface="+mn-lt"/>
              </a:rPr>
              <a:t>Handles text, voice, and image-based questions</a:t>
            </a:r>
            <a:endParaRPr lang="en-US" sz="1800">
              <a:ea typeface="Cambria"/>
            </a:endParaRPr>
          </a:p>
          <a:p>
            <a:r>
              <a:rPr lang="en-US" sz="1800">
                <a:ea typeface="+mn-lt"/>
                <a:cs typeface="+mn-lt"/>
              </a:rPr>
              <a:t>Reduces dependency on human customer service staff</a:t>
            </a:r>
            <a:endParaRPr lang="en-US" sz="1800">
              <a:ea typeface="Cambria"/>
            </a:endParaRPr>
          </a:p>
          <a:p>
            <a:r>
              <a:rPr lang="en-US" sz="1800">
                <a:ea typeface="+mn-lt"/>
                <a:cs typeface="+mn-lt"/>
              </a:rPr>
              <a:t>Prototype demonstrates real-time interaction and response</a:t>
            </a:r>
            <a:endParaRPr lang="en-US" sz="1800">
              <a:ea typeface="Cambria"/>
            </a:endParaRPr>
          </a:p>
          <a:p>
            <a:r>
              <a:rPr lang="en-US" sz="1800">
                <a:ea typeface="+mn-lt"/>
                <a:cs typeface="+mn-lt"/>
              </a:rPr>
              <a:t>RAG agent creation (Retrieval-Augmented Generation)</a:t>
            </a:r>
            <a:endParaRPr lang="en-US" sz="1200">
              <a:solidFill>
                <a:schemeClr val="bg1"/>
              </a:solidFill>
              <a:highlight>
                <a:srgbClr val="1F1F1F"/>
              </a:highlight>
              <a:ea typeface="+mn-lt"/>
              <a:cs typeface="+mn-lt"/>
            </a:endParaRPr>
          </a:p>
          <a:p>
            <a:pPr marL="0" indent="0">
              <a:buNone/>
            </a:pPr>
            <a:endParaRPr lang="en-US">
              <a:ea typeface="+mn-lt"/>
              <a:cs typeface="+mn-lt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D7BA638-C5B6-08DF-787F-BA768FF0AAF4}"/>
              </a:ext>
            </a:extLst>
          </p:cNvPr>
          <p:cNvSpPr txBox="1">
            <a:spLocks/>
          </p:cNvSpPr>
          <p:nvPr/>
        </p:nvSpPr>
        <p:spPr>
          <a:xfrm>
            <a:off x="2211238" y="3998344"/>
            <a:ext cx="6493774" cy="246427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>
                <a:ea typeface="+mn-lt"/>
                <a:cs typeface="+mn-lt"/>
              </a:rPr>
              <a:t>User Requirements</a:t>
            </a:r>
            <a:endParaRPr lang="en-US" sz="2000" b="1">
              <a:ea typeface="Cambria"/>
            </a:endParaRPr>
          </a:p>
          <a:p>
            <a:r>
              <a:rPr lang="en-US" sz="1800">
                <a:ea typeface="+mn-lt"/>
                <a:cs typeface="+mn-lt"/>
              </a:rPr>
              <a:t>24/7 customer support availability</a:t>
            </a:r>
            <a:endParaRPr lang="en-US" sz="1800">
              <a:ea typeface="Cambria"/>
            </a:endParaRPr>
          </a:p>
          <a:p>
            <a:r>
              <a:rPr lang="en-US" sz="1800">
                <a:ea typeface="+mn-lt"/>
                <a:cs typeface="+mn-lt"/>
              </a:rPr>
              <a:t>Easy-to-use chat and voice interface</a:t>
            </a:r>
            <a:endParaRPr lang="en-US" sz="1800">
              <a:ea typeface="Cambria"/>
            </a:endParaRPr>
          </a:p>
          <a:p>
            <a:r>
              <a:rPr lang="en-US" sz="1800">
                <a:ea typeface="+mn-lt"/>
                <a:cs typeface="+mn-lt"/>
              </a:rPr>
              <a:t>Natural conversation flow with history aware understanding</a:t>
            </a:r>
          </a:p>
          <a:p>
            <a:r>
              <a:rPr lang="en-US" sz="1800">
                <a:ea typeface="+mn-lt"/>
                <a:cs typeface="+mn-lt"/>
              </a:rPr>
              <a:t>Secure handling of user data without human</a:t>
            </a:r>
            <a:endParaRPr lang="en-US" sz="1800">
              <a:ea typeface="Cambria"/>
            </a:endParaRPr>
          </a:p>
          <a:p>
            <a:r>
              <a:rPr lang="en-US" sz="1800">
                <a:ea typeface="+mn-lt"/>
                <a:cs typeface="+mn-lt"/>
              </a:rPr>
              <a:t>Support for leasing questions with images</a:t>
            </a:r>
            <a:endParaRPr lang="en-US" sz="1800">
              <a:ea typeface="Cambria"/>
            </a:endParaRPr>
          </a:p>
          <a:p>
            <a:pPr marL="0" indent="0">
              <a:buFont typeface="Arial" pitchFamily="34" charset="0"/>
              <a:buNone/>
            </a:pPr>
            <a:endParaRPr lang="en-US" sz="2000">
              <a:ea typeface="Cambria"/>
            </a:endParaRPr>
          </a:p>
          <a:p>
            <a:pPr marL="0" indent="0">
              <a:buFont typeface="Arial" pitchFamily="34" charset="0"/>
              <a:buNone/>
            </a:pPr>
            <a:endParaRPr lang="en-US">
              <a:ea typeface="+mn-lt"/>
              <a:cs typeface="+mn-lt"/>
            </a:endParaRPr>
          </a:p>
        </p:txBody>
      </p:sp>
      <p:pic>
        <p:nvPicPr>
          <p:cNvPr id="4" name="Picture 3" descr="A diagram of a data flow&#10;&#10;AI-generated content may be incorrect.">
            <a:extLst>
              <a:ext uri="{FF2B5EF4-FFF2-40B4-BE49-F238E27FC236}">
                <a16:creationId xmlns:a16="http://schemas.microsoft.com/office/drawing/2014/main" id="{21D4328F-39B2-C11B-2C7A-CBB4BAC03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0450" y="1975757"/>
            <a:ext cx="4120242" cy="2351314"/>
          </a:xfrm>
          <a:prstGeom prst="rect">
            <a:avLst/>
          </a:prstGeom>
        </p:spPr>
      </p:pic>
      <p:pic>
        <p:nvPicPr>
          <p:cNvPr id="6" name="Picture 5" descr="A blue logo with a microphone and a sound wave&#10;&#10;AI-generated content may be incorrect.">
            <a:extLst>
              <a:ext uri="{FF2B5EF4-FFF2-40B4-BE49-F238E27FC236}">
                <a16:creationId xmlns:a16="http://schemas.microsoft.com/office/drawing/2014/main" id="{DB5CBB32-F136-7CE8-C88B-024747F4FB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70" r="7954" b="2835"/>
          <a:stretch>
            <a:fillRect/>
          </a:stretch>
        </p:blipFill>
        <p:spPr>
          <a:xfrm>
            <a:off x="8708571" y="4184638"/>
            <a:ext cx="1753468" cy="1300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3776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BF72F-84D7-C489-1C47-55730311A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400" b="1" cap="all">
                <a:latin typeface="Aptos"/>
              </a:rPr>
              <a:t>AI-Driven Conversational Assistant for Automated Customer Inquiries in Financial Leasing</a:t>
            </a:r>
            <a:endParaRPr lang="en-US" sz="2400"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3D550-F63D-1D0C-AF7D-5B3A3AD68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99869"/>
            <a:ext cx="8003397" cy="25363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>
                <a:ea typeface="+mn-lt"/>
                <a:cs typeface="+mn-lt"/>
              </a:rPr>
              <a:t>Design Excellence</a:t>
            </a:r>
          </a:p>
          <a:p>
            <a:pPr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Specific AI model(LLM) for financial leasing</a:t>
            </a:r>
            <a:endParaRPr lang="en-US" sz="1800">
              <a:ea typeface="Cambria"/>
            </a:endParaRPr>
          </a:p>
          <a:p>
            <a:pPr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Multimodal interaction (Text + Voice + Image)</a:t>
            </a:r>
            <a:endParaRPr lang="en-US" sz="1800">
              <a:ea typeface="Cambria"/>
            </a:endParaRPr>
          </a:p>
          <a:p>
            <a:pPr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Intelligent knowledge base matching</a:t>
            </a:r>
            <a:endParaRPr lang="en-US" sz="1800">
              <a:ea typeface="Cambria"/>
            </a:endParaRPr>
          </a:p>
          <a:p>
            <a:pPr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Scalable and modular system design</a:t>
            </a:r>
            <a:endParaRPr lang="en-US" sz="1800">
              <a:ea typeface="Cambria"/>
            </a:endParaRPr>
          </a:p>
          <a:p>
            <a:pPr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Improves customer experience in leasing services</a:t>
            </a:r>
            <a:endParaRPr lang="en-US" sz="1800">
              <a:ea typeface="Cambria"/>
            </a:endParaRPr>
          </a:p>
          <a:p>
            <a:pPr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Contributes a practical AI solution to research</a:t>
            </a:r>
            <a:endParaRPr lang="en-US" sz="1800">
              <a:ea typeface="Cambria"/>
            </a:endParaRPr>
          </a:p>
          <a:p>
            <a:pPr marL="0" indent="0">
              <a:buNone/>
            </a:pPr>
            <a:endParaRPr lang="en-US" sz="1800" b="1">
              <a:ea typeface="Cambria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5A5C421-9D52-7F85-283A-404B8E999D1F}"/>
              </a:ext>
            </a:extLst>
          </p:cNvPr>
          <p:cNvSpPr txBox="1">
            <a:spLocks/>
          </p:cNvSpPr>
          <p:nvPr/>
        </p:nvSpPr>
        <p:spPr>
          <a:xfrm>
            <a:off x="2541917" y="3955212"/>
            <a:ext cx="8003397" cy="28955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>
                <a:ea typeface="+mn-lt"/>
                <a:cs typeface="+mn-lt"/>
              </a:rPr>
              <a:t>User Feedback on Prototype</a:t>
            </a:r>
            <a:endParaRPr lang="en-US" sz="2000" b="1">
              <a:ea typeface="Cambria"/>
            </a:endParaRPr>
          </a:p>
          <a:p>
            <a:pPr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Users found the chatbot easy to use</a:t>
            </a:r>
            <a:endParaRPr lang="en-US" sz="1800">
              <a:ea typeface="Cambria"/>
            </a:endParaRPr>
          </a:p>
          <a:p>
            <a:pPr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Voice interaction improved accessibility</a:t>
            </a:r>
            <a:endParaRPr lang="en-US" sz="1800">
              <a:ea typeface="Cambria"/>
            </a:endParaRPr>
          </a:p>
          <a:p>
            <a:pPr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Faster response compared to manual support</a:t>
            </a:r>
            <a:endParaRPr lang="en-US" sz="1800">
              <a:ea typeface="Cambria"/>
            </a:endParaRPr>
          </a:p>
          <a:p>
            <a:pPr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Accurate answers for common leasing inquiries</a:t>
            </a:r>
            <a:endParaRPr lang="en-US" sz="1800">
              <a:ea typeface="Cambria"/>
            </a:endParaRPr>
          </a:p>
          <a:p>
            <a:pPr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Positive feedback on overall experience</a:t>
            </a:r>
          </a:p>
          <a:p>
            <a:pPr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Suggestions received for future improvements</a:t>
            </a:r>
            <a:endParaRPr lang="en-US" sz="1800"/>
          </a:p>
          <a:p>
            <a:pPr marL="0" indent="0">
              <a:buNone/>
            </a:pPr>
            <a:endParaRPr lang="en-US" b="1">
              <a:ea typeface="Cambria"/>
            </a:endParaRPr>
          </a:p>
        </p:txBody>
      </p:sp>
      <p:pic>
        <p:nvPicPr>
          <p:cNvPr id="4" name="Picture 3" descr="A robot with a speech bubble&#10;&#10;AI-generated content may be incorrect.">
            <a:extLst>
              <a:ext uri="{FF2B5EF4-FFF2-40B4-BE49-F238E27FC236}">
                <a16:creationId xmlns:a16="http://schemas.microsoft.com/office/drawing/2014/main" id="{6BF1D11D-6047-FE0C-43E6-9AA98930E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3350" y="1537606"/>
            <a:ext cx="3031672" cy="290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3109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2F071-2891-D3C0-5662-76DD3AA4B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562E4ECA-F4F4-C0DE-6B26-928F680AEF77}"/>
              </a:ext>
            </a:extLst>
          </p:cNvPr>
          <p:cNvSpPr txBox="1">
            <a:spLocks/>
          </p:cNvSpPr>
          <p:nvPr/>
        </p:nvSpPr>
        <p:spPr>
          <a:xfrm>
            <a:off x="595184" y="195649"/>
            <a:ext cx="10363200" cy="1165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 b="1">
                <a:solidFill>
                  <a:srgbClr val="000000"/>
                </a:solidFill>
                <a:latin typeface="Adobe Devanagari"/>
              </a:rPr>
              <a:t>Market size</a:t>
            </a: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6E6CD3-82EB-7C0E-E044-86733B2AEE06}"/>
              </a:ext>
            </a:extLst>
          </p:cNvPr>
          <p:cNvSpPr txBox="1"/>
          <p:nvPr/>
        </p:nvSpPr>
        <p:spPr>
          <a:xfrm>
            <a:off x="593190" y="1711326"/>
            <a:ext cx="11199980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ea typeface="+mn-lt"/>
                <a:cs typeface="+mn-lt"/>
              </a:rPr>
              <a:t>Market Need:</a:t>
            </a:r>
            <a:endParaRPr lang="en-US" sz="2400" b="1">
              <a:ea typeface="Cambria"/>
            </a:endParaRPr>
          </a:p>
          <a:p>
            <a:r>
              <a:rPr lang="en-US" sz="2400">
                <a:ea typeface="+mn-lt"/>
                <a:cs typeface="+mn-lt"/>
              </a:rPr>
              <a:t>AI-driven leasing and risk analytics to reduce non-performing assets and manual processes.</a:t>
            </a:r>
            <a:endParaRPr lang="en-US" sz="2400">
              <a:ea typeface="Cambria"/>
            </a:endParaRPr>
          </a:p>
          <a:p>
            <a:endParaRPr lang="en-US" sz="2400">
              <a:ea typeface="Cambria"/>
            </a:endParaRPr>
          </a:p>
          <a:p>
            <a:r>
              <a:rPr lang="en-US" sz="2400" b="1">
                <a:ea typeface="+mn-lt"/>
                <a:cs typeface="+mn-lt"/>
              </a:rPr>
              <a:t>Local Relevance:</a:t>
            </a:r>
            <a:endParaRPr lang="en-US" sz="2400" b="1">
              <a:ea typeface="Cambria"/>
            </a:endParaRPr>
          </a:p>
          <a:p>
            <a:r>
              <a:rPr lang="en-US" sz="2400">
                <a:ea typeface="+mn-lt"/>
                <a:cs typeface="+mn-lt"/>
              </a:rPr>
              <a:t>Supports Sri Lanka’s leasing and finance institutions facing rising credit risk and regulatory pressure.</a:t>
            </a:r>
            <a:endParaRPr lang="en-US" sz="2400">
              <a:ea typeface="Cambria"/>
            </a:endParaRPr>
          </a:p>
          <a:p>
            <a:endParaRPr lang="en-US" sz="2400">
              <a:ea typeface="Cambria"/>
            </a:endParaRPr>
          </a:p>
          <a:p>
            <a:r>
              <a:rPr lang="en-US" sz="2400" b="1">
                <a:ea typeface="+mn-lt"/>
                <a:cs typeface="+mn-lt"/>
              </a:rPr>
              <a:t>Trend:</a:t>
            </a:r>
            <a:endParaRPr lang="en-US" sz="2400" b="1">
              <a:ea typeface="Cambria"/>
            </a:endParaRPr>
          </a:p>
          <a:p>
            <a:r>
              <a:rPr lang="en-US" sz="2400">
                <a:ea typeface="+mn-lt"/>
                <a:cs typeface="+mn-lt"/>
              </a:rPr>
              <a:t>Increasing demand for AI-powered automation and predictive analytics in financial services.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0806181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4728B-ECCD-70E9-7854-4604643E6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FB0A727D-C5F7-1D4C-C697-77D4D1F6958D}"/>
              </a:ext>
            </a:extLst>
          </p:cNvPr>
          <p:cNvSpPr txBox="1">
            <a:spLocks/>
          </p:cNvSpPr>
          <p:nvPr/>
        </p:nvSpPr>
        <p:spPr>
          <a:xfrm>
            <a:off x="595184" y="195649"/>
            <a:ext cx="10363200" cy="1165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 b="1">
                <a:solidFill>
                  <a:srgbClr val="000000"/>
                </a:solidFill>
                <a:latin typeface="Adobe Devanagari"/>
              </a:rPr>
              <a:t>Unique in Our Solution</a:t>
            </a: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D85DEC-49EE-CEF8-85B2-0A0E84D28E61}"/>
              </a:ext>
            </a:extLst>
          </p:cNvPr>
          <p:cNvSpPr txBox="1"/>
          <p:nvPr/>
        </p:nvSpPr>
        <p:spPr>
          <a:xfrm>
            <a:off x="901521" y="1711818"/>
            <a:ext cx="9948928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b="1">
                <a:ea typeface="+mn-lt"/>
                <a:cs typeface="+mn-lt"/>
              </a:rPr>
              <a:t>Comprehensive ML platform:</a:t>
            </a:r>
            <a:r>
              <a:rPr lang="en-US" sz="2400">
                <a:ea typeface="+mn-lt"/>
                <a:cs typeface="+mn-lt"/>
              </a:rPr>
              <a:t> Integrates </a:t>
            </a:r>
            <a:r>
              <a:rPr lang="en-US" sz="2400" b="1">
                <a:ea typeface="+mn-lt"/>
                <a:cs typeface="+mn-lt"/>
              </a:rPr>
              <a:t>impairment prediction, ECL estimation, branch performance analysis, and AI-driven customer support</a:t>
            </a:r>
            <a:r>
              <a:rPr lang="en-US" sz="2400">
                <a:ea typeface="+mn-lt"/>
                <a:cs typeface="+mn-lt"/>
              </a:rPr>
              <a:t> in a single solution.</a:t>
            </a:r>
            <a:endParaRPr lang="en-US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400" b="1">
                <a:ea typeface="+mn-lt"/>
                <a:cs typeface="+mn-lt"/>
              </a:rPr>
              <a:t>Optimized for accuracy and scalability:</a:t>
            </a:r>
            <a:r>
              <a:rPr lang="en-US" sz="2400">
                <a:ea typeface="+mn-lt"/>
                <a:cs typeface="+mn-lt"/>
              </a:rPr>
              <a:t> Leverages advanced modeling techniques to deliver </a:t>
            </a:r>
            <a:r>
              <a:rPr lang="en-US" sz="2400" b="1">
                <a:ea typeface="+mn-lt"/>
                <a:cs typeface="+mn-lt"/>
              </a:rPr>
              <a:t>highly reliable predictions across all modules</a:t>
            </a:r>
            <a:r>
              <a:rPr lang="en-US" sz="2400"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400" b="1">
                <a:ea typeface="+mn-lt"/>
                <a:cs typeface="+mn-lt"/>
              </a:rPr>
              <a:t>Data-driven operational intelligence:</a:t>
            </a:r>
            <a:r>
              <a:rPr lang="en-US" sz="2400">
                <a:ea typeface="+mn-lt"/>
                <a:cs typeface="+mn-lt"/>
              </a:rPr>
              <a:t> Provides </a:t>
            </a:r>
            <a:r>
              <a:rPr lang="en-US" sz="2400" b="1">
                <a:ea typeface="+mn-lt"/>
                <a:cs typeface="+mn-lt"/>
              </a:rPr>
              <a:t>insights from large-scale leasing data</a:t>
            </a:r>
            <a:r>
              <a:rPr lang="en-US" sz="2400">
                <a:ea typeface="+mn-lt"/>
                <a:cs typeface="+mn-lt"/>
              </a:rPr>
              <a:t>, enabling better-informed decisions in multiple aspects of operations.</a:t>
            </a:r>
            <a:endParaRPr lang="en-US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400" b="1">
                <a:ea typeface="+mn-lt"/>
                <a:cs typeface="+mn-lt"/>
              </a:rPr>
              <a:t>Automation beyond predictions:</a:t>
            </a:r>
            <a:r>
              <a:rPr lang="en-US" sz="2400">
                <a:ea typeface="+mn-lt"/>
                <a:cs typeface="+mn-lt"/>
              </a:rPr>
              <a:t> Reduces manual effort in </a:t>
            </a:r>
            <a:r>
              <a:rPr lang="en-US" sz="2400" b="1">
                <a:ea typeface="+mn-lt"/>
                <a:cs typeface="+mn-lt"/>
              </a:rPr>
              <a:t>risk assessment, reporting, and customer interaction</a:t>
            </a:r>
            <a:r>
              <a:rPr lang="en-US" sz="2400">
                <a:ea typeface="+mn-lt"/>
                <a:cs typeface="+mn-lt"/>
              </a:rPr>
              <a:t>, improving overall efficiency.</a:t>
            </a:r>
            <a:endParaRPr lang="en-US">
              <a:ea typeface="+mn-lt"/>
              <a:cs typeface="+mn-lt"/>
            </a:endParaRPr>
          </a:p>
        </p:txBody>
      </p:sp>
      <p:pic>
        <p:nvPicPr>
          <p:cNvPr id="4" name="Picture 3" descr="Financial Statistics Wealth Management Income Growth Bank Flat H5 PNG Images  | AI Free Download - Pikbest">
            <a:extLst>
              <a:ext uri="{FF2B5EF4-FFF2-40B4-BE49-F238E27FC236}">
                <a16:creationId xmlns:a16="http://schemas.microsoft.com/office/drawing/2014/main" id="{2095953C-8213-9679-633D-8A86D2416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9086" y="-1"/>
            <a:ext cx="1722784" cy="171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3068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3F878-38DB-2981-1C7D-006B36FAB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1AB42C54-54EC-7AF9-78F5-4603ACAC7850}"/>
              </a:ext>
            </a:extLst>
          </p:cNvPr>
          <p:cNvSpPr txBox="1">
            <a:spLocks/>
          </p:cNvSpPr>
          <p:nvPr/>
        </p:nvSpPr>
        <p:spPr>
          <a:xfrm>
            <a:off x="595184" y="195649"/>
            <a:ext cx="10363200" cy="1165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 b="1">
                <a:solidFill>
                  <a:srgbClr val="000000"/>
                </a:solidFill>
                <a:latin typeface="Adobe Devanagari"/>
              </a:rPr>
              <a:t>Commercialization &amp; Sustainability</a:t>
            </a:r>
            <a:endParaRPr lang="en-US" b="1"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E43777-9EE4-2810-64C1-F69847045165}"/>
              </a:ext>
            </a:extLst>
          </p:cNvPr>
          <p:cNvSpPr txBox="1"/>
          <p:nvPr/>
        </p:nvSpPr>
        <p:spPr>
          <a:xfrm>
            <a:off x="1297314" y="1711351"/>
            <a:ext cx="2939660" cy="11455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8A56A6-76F3-8DFC-E94D-40EF2403B9AF}"/>
              </a:ext>
            </a:extLst>
          </p:cNvPr>
          <p:cNvSpPr txBox="1"/>
          <p:nvPr/>
        </p:nvSpPr>
        <p:spPr>
          <a:xfrm>
            <a:off x="491141" y="1589873"/>
            <a:ext cx="11169170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Freemium Model:</a:t>
            </a:r>
            <a:endParaRPr lang="en-US" b="1"/>
          </a:p>
          <a:p>
            <a:r>
              <a:rPr lang="en-US">
                <a:ea typeface="+mn-lt"/>
                <a:cs typeface="+mn-lt"/>
              </a:rPr>
              <a:t>Basic reporting and rule-based dashboards are free advanced AI features (impairment prediction, default risk scoring, branch forecasting, AI chatbot) are offered as premium services.</a:t>
            </a:r>
            <a:endParaRPr lang="en-US"/>
          </a:p>
          <a:p>
            <a:endParaRPr lang="en-US"/>
          </a:p>
          <a:p>
            <a:r>
              <a:rPr lang="en-US" b="1">
                <a:ea typeface="+mn-lt"/>
                <a:cs typeface="+mn-lt"/>
              </a:rPr>
              <a:t>Enterprise Licensing:</a:t>
            </a:r>
            <a:endParaRPr lang="en-US" b="1"/>
          </a:p>
          <a:p>
            <a:r>
              <a:rPr lang="en-US">
                <a:ea typeface="+mn-lt"/>
                <a:cs typeface="+mn-lt"/>
              </a:rPr>
              <a:t>Custom solutions for large leasing institutions with system integration, role-based access, and regulatory compliant reporting.</a:t>
            </a:r>
            <a:endParaRPr lang="en-US"/>
          </a:p>
          <a:p>
            <a:endParaRPr lang="en-US"/>
          </a:p>
          <a:p>
            <a:r>
              <a:rPr lang="en-US" b="1">
                <a:ea typeface="+mn-lt"/>
                <a:cs typeface="+mn-lt"/>
              </a:rPr>
              <a:t>Ecosystem Partnerships:</a:t>
            </a:r>
            <a:endParaRPr lang="en-US" b="1"/>
          </a:p>
          <a:p>
            <a:r>
              <a:rPr lang="en-US">
                <a:ea typeface="+mn-lt"/>
                <a:cs typeface="+mn-lt"/>
              </a:rPr>
              <a:t>Integration with core leasing systems, credit bureaus, and cloud platforms for seamless data flow and scalable analytics.</a:t>
            </a:r>
            <a:endParaRPr lang="en-US"/>
          </a:p>
          <a:p>
            <a:endParaRPr lang="en-US"/>
          </a:p>
          <a:p>
            <a:r>
              <a:rPr lang="en-US" b="1">
                <a:ea typeface="+mn-lt"/>
                <a:cs typeface="+mn-lt"/>
              </a:rPr>
              <a:t>Sustainability:</a:t>
            </a:r>
            <a:endParaRPr lang="en-US" b="1"/>
          </a:p>
          <a:p>
            <a:r>
              <a:rPr lang="en-US">
                <a:ea typeface="+mn-lt"/>
                <a:cs typeface="+mn-lt"/>
              </a:rPr>
              <a:t>Early risk detection and automation reduce non-performing leases, operational costs, and manual workload, while a tiered pricing model ensures long-term financial and operational sustainability.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504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AB1D2-5AAC-8DA6-688D-9BE14A2F2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AC09ED4E-1560-4CA6-B132-39F9019C0967}"/>
              </a:ext>
            </a:extLst>
          </p:cNvPr>
          <p:cNvSpPr txBox="1">
            <a:spLocks/>
          </p:cNvSpPr>
          <p:nvPr/>
        </p:nvSpPr>
        <p:spPr>
          <a:xfrm>
            <a:off x="911486" y="2553536"/>
            <a:ext cx="10363200" cy="1165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 sz="8000" b="1">
                <a:solidFill>
                  <a:srgbClr val="000000"/>
                </a:solidFill>
                <a:latin typeface="Adobe Devanagari"/>
              </a:rPr>
              <a:t>Thank You!</a:t>
            </a:r>
            <a:endParaRPr lang="en-US" sz="8000" b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9138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08376A6-FCE2-4A8E-BFFF-11B69BD93976}" vid="{0A5F165D-9E14-4628-BA29-A51D7051FD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315195e-671e-423b-bef2-4f1205612242">
      <Terms xmlns="http://schemas.microsoft.com/office/infopath/2007/PartnerControls"/>
    </lcf76f155ced4ddcb4097134ff3c332f>
    <TaxCatchAll xmlns="db72c12f-87a4-44ab-bbc5-4cc8306b158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C20DB7DB36DD49BC8150064CF95DD9" ma:contentTypeVersion="10" ma:contentTypeDescription="Create a new document." ma:contentTypeScope="" ma:versionID="d14a27de597d7624775fdece6dc7f079">
  <xsd:schema xmlns:xsd="http://www.w3.org/2001/XMLSchema" xmlns:xs="http://www.w3.org/2001/XMLSchema" xmlns:p="http://schemas.microsoft.com/office/2006/metadata/properties" xmlns:ns2="b315195e-671e-423b-bef2-4f1205612242" xmlns:ns3="db72c12f-87a4-44ab-bbc5-4cc8306b158a" targetNamespace="http://schemas.microsoft.com/office/2006/metadata/properties" ma:root="true" ma:fieldsID="70e134be4b77dd6b414df29dc9a2df1a" ns2:_="" ns3:_="">
    <xsd:import namespace="b315195e-671e-423b-bef2-4f1205612242"/>
    <xsd:import namespace="db72c12f-87a4-44ab-bbc5-4cc8306b15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15195e-671e-423b-bef2-4f12056122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c8a686f-bba2-44f2-819b-edf0b3003f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72c12f-87a4-44ab-bbc5-4cc8306b158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a90b710-f748-4220-b362-4102ae550bf9}" ma:internalName="TaxCatchAll" ma:showField="CatchAllData" ma:web="db72c12f-87a4-44ab-bbc5-4cc8306b15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73BBE3A-FE68-47A8-B11A-13CCDBFC96F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B9E682E-7232-4612-A776-B9C04CDD7F36}">
  <ds:schemaRefs>
    <ds:schemaRef ds:uri="b315195e-671e-423b-bef2-4f1205612242"/>
    <ds:schemaRef ds:uri="db72c12f-87a4-44ab-bbc5-4cc8306b158a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451F900-BCF8-47A4-A9F7-98D82E2CB94F}">
  <ds:schemaRefs>
    <ds:schemaRef ds:uri="b315195e-671e-423b-bef2-4f1205612242"/>
    <ds:schemaRef ds:uri="db72c12f-87a4-44ab-bbc5-4cc8306b158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Proposal-Presentation-Template</Template>
  <Application>Microsoft Office PowerPoint</Application>
  <PresentationFormat>Widescreen</PresentationFormat>
  <Slides>20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Machine Learning Applications in Financial Leasing</vt:lpstr>
      <vt:lpstr>Our Team</vt:lpstr>
      <vt:lpstr>Financial analysts, credit risk managers, branch managers, and operations, teams in leasing institutions.</vt:lpstr>
      <vt:lpstr>Design Excellence</vt:lpstr>
      <vt:lpstr>IT22198518 | W.A.L.D. Semasingha</vt:lpstr>
      <vt:lpstr>Impairment Estimation </vt:lpstr>
      <vt:lpstr>PowerPoint Presentation</vt:lpstr>
      <vt:lpstr>IT22129130 – Maharambage K.N</vt:lpstr>
      <vt:lpstr>Default Risk Prediction  </vt:lpstr>
      <vt:lpstr>Default Risk Prediction  </vt:lpstr>
      <vt:lpstr>Weerasinghe m p - it22087560</vt:lpstr>
      <vt:lpstr>PowerPoint Presentation</vt:lpstr>
      <vt:lpstr>PowerPoint Presentation</vt:lpstr>
      <vt:lpstr>IT22583796 - Erangi M G M </vt:lpstr>
      <vt:lpstr>AI-Driven Conversational Assistant for Automated Customer Inquiries in Financial Leasing</vt:lpstr>
      <vt:lpstr>AI-Driven Conversational Assistant for Automated Customer Inquiries in Financial Leasing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SEMASINGHA W.A.L.D. it22198518</dc:creator>
  <cp:revision>4</cp:revision>
  <dcterms:created xsi:type="dcterms:W3CDTF">2025-09-08T05:36:02Z</dcterms:created>
  <dcterms:modified xsi:type="dcterms:W3CDTF">2026-04-26T17:00:07Z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0x0101008DC20DB7DB36DD49BC8150064CF95DD9</vt:lpwstr>
  </property>
</Properties>
</file>