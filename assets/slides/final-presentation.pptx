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4"/>
  </p:sldMasterIdLst>
  <p:notesMasterIdLst>
    <p:notesMasterId r:id="rId18"/>
  </p:notesMasterIdLst>
  <p:handoutMasterIdLst>
    <p:handoutMasterId r:id="rId19"/>
  </p:handoutMasterIdLst>
  <p:sldIdLst>
    <p:sldId id="277" r:id="rId5"/>
    <p:sldId id="295" r:id="rId6"/>
    <p:sldId id="374" r:id="rId7"/>
    <p:sldId id="381" r:id="rId8"/>
    <p:sldId id="383" r:id="rId9"/>
    <p:sldId id="385" r:id="rId10"/>
    <p:sldId id="392" r:id="rId11"/>
    <p:sldId id="390" r:id="rId12"/>
    <p:sldId id="387" r:id="rId13"/>
    <p:sldId id="394" r:id="rId14"/>
    <p:sldId id="391" r:id="rId15"/>
    <p:sldId id="393" r:id="rId16"/>
    <p:sldId id="34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EB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4532E-5A0A-8AAD-7734-C778D64D813C}" v="919" dt="2026-05-05T12:45:14.594"/>
    <p1510:client id="{2592BCB6-3222-8282-BB56-E8CDB002FD84}" v="220" dt="2026-05-05T17:56:51.395"/>
    <p1510:client id="{34338F38-8379-A906-A492-2D2CF57B3E71}" v="51" dt="2026-05-05T16:29:41.193"/>
    <p1510:client id="{3D49E84E-EF78-03D5-7DAD-9757AAC272A0}" v="7" dt="2026-05-05T12:55:33.127"/>
    <p1510:client id="{72D05FE9-C48A-46DA-A8DE-39471C074449}" v="204" dt="2026-05-05T18:33:33.168"/>
    <p1510:client id="{AFE051D9-58F8-8345-4395-12BDA793766E}" v="381" dt="2026-05-05T15:22:04.811"/>
    <p1510:client id="{F0F45D24-8C2F-9876-3209-E7107005D9BE}" v="447" dt="2026-05-05T12:07:04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8108-CFBA-BDC1-6E27-C87A28D21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DEFA1-9C8A-6C5D-BBC9-728CCA86C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58AB1-2831-4BA3-CE08-24731341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CD285-EACC-2EEA-D0E1-96318924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9CF1-188F-688F-AA44-D1FA3999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86294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DFD8-A964-3BA7-6C34-0DCCFA62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4AC6-7854-ED0D-3D25-69EC40BD8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B6C83-4FF9-E213-EEC1-64E3D1C3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7792-EE9D-7D5A-4809-57C4D236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F9108-852F-215F-C94C-E70A28E61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0738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A705-E45B-A4E1-48C8-71DFBBCC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CCC52-C727-401E-75BB-BC5EEE00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C95F-71E8-7853-E439-FAD7DD5B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C6664-2FC0-BE22-9B41-642EA811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90A5-D338-AF13-779C-7B3E3C8D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396FB-CEE8-61F5-2352-61A63436C338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10505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1195-0019-ADDD-FC89-52288310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7FEE4-7E6C-81E4-7646-049D7CA49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62316-8799-815F-14A6-3409B11FB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46ACE-00B5-CE74-FE5F-BE17E614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F96D2-699B-B797-5744-34E0EE7C5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48A49-138E-81C3-2B3B-095E3845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6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21677-7859-2CF5-9E3E-FDCAC02A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7D360-FCE6-B707-0CDD-87612D344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9B114-5BD3-29EE-B3A1-1A6AD202A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0D45E-BCD3-8AA1-D96C-AB41B40B8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4CA573-BC0F-1E5F-DE41-54C1F8E69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5C34B-FD4D-DB57-58E2-D45F7576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F2904-894C-3A2F-5629-83ACA612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D33A1-822F-BA33-92F2-03FFE041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0E5A-87AC-5DC3-8286-9DA5C1EB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FFA6C-27C3-6404-B698-43084F88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9BEA3-9E8C-B9B8-07C9-A25402DD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FFA5A-698E-C366-7C2C-7BD65A89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2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E94EE-770C-ECCF-044A-CCD5E963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ED6EA-55D9-7BFB-31B9-C6A59A0B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4711-81C4-29E9-4826-F45D3AE2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二等辺三角形 9">
            <a:extLst>
              <a:ext uri="{FF2B5EF4-FFF2-40B4-BE49-F238E27FC236}">
                <a16:creationId xmlns:a16="http://schemas.microsoft.com/office/drawing/2014/main" id="{B6BFDB8C-2BF3-2FEC-AEB2-E0033949DAB8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二等辺三角形 10">
            <a:extLst>
              <a:ext uri="{FF2B5EF4-FFF2-40B4-BE49-F238E27FC236}">
                <a16:creationId xmlns:a16="http://schemas.microsoft.com/office/drawing/2014/main" id="{0634FCDC-7220-CBFA-0F69-26E5EAFCC44F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5844-95A5-299C-B93F-BC261EDD7864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7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A4C6-7090-BC48-40C9-5A44292B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F715-CE44-AC53-FF84-D8B7F4579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27553-013B-4AB0-EA26-8AA647DCE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85E8E-EB5A-4C4A-F291-DC41EEC01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7C6FF-07DB-4A90-F64A-2EC96543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30493-07FF-53E6-633E-0D9CD48E2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二等辺三角形 11">
            <a:extLst>
              <a:ext uri="{FF2B5EF4-FFF2-40B4-BE49-F238E27FC236}">
                <a16:creationId xmlns:a16="http://schemas.microsoft.com/office/drawing/2014/main" id="{78F5F7D1-8A22-4485-A937-A60BBC3BCBC0}"/>
              </a:ext>
            </a:extLst>
          </p:cNvPr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9" name="二等辺三角形 9">
            <a:extLst>
              <a:ext uri="{FF2B5EF4-FFF2-40B4-BE49-F238E27FC236}">
                <a16:creationId xmlns:a16="http://schemas.microsoft.com/office/drawing/2014/main" id="{EDD7F1D5-3819-3999-1902-3A7BF53CEACD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0" name="二等辺三角形 10">
            <a:extLst>
              <a:ext uri="{FF2B5EF4-FFF2-40B4-BE49-F238E27FC236}">
                <a16:creationId xmlns:a16="http://schemas.microsoft.com/office/drawing/2014/main" id="{40A7754C-A1B5-0A90-B3B6-ACB4B8B195AC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79530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F62D2-E0C2-F9C5-0F65-956501C0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3E69B-EDC2-F88C-598E-7DE0F2FFF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BE216-BCE1-16A6-34F8-9E2356F23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900B3-D317-F146-94FD-CC3D2EF5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2F9EC-2843-864E-AAC4-CC846473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21895-C91A-71CB-3703-6AE4F38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1358766B-E89A-A0BB-890E-04B028908803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48833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E4DD-27A7-54DD-125D-5BB38C32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E2775-A7B4-BCB0-D29A-0AE5E3546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F8C13-06E3-7A39-00F0-36193C91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2FD1-7E00-4CB9-41D9-32BD1E4D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0839-A218-A95B-E2C5-4FD5576E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二等辺三角形 10">
            <a:extLst>
              <a:ext uri="{FF2B5EF4-FFF2-40B4-BE49-F238E27FC236}">
                <a16:creationId xmlns:a16="http://schemas.microsoft.com/office/drawing/2014/main" id="{A590BB9A-820B-C7AA-3A28-0B0A7D8038A4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41169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22F40D-2956-E392-129A-A98DC7FAB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2A77F-68EC-CA05-ADAC-E09668F5F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D2931-0627-5136-BF72-C4FEBD1D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746FA-14B8-B8F4-FEDE-84712C44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8B72-FB90-E9B0-8B73-6E1E9D83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二等辺三角形 9">
            <a:extLst>
              <a:ext uri="{FF2B5EF4-FFF2-40B4-BE49-F238E27FC236}">
                <a16:creationId xmlns:a16="http://schemas.microsoft.com/office/drawing/2014/main" id="{965E1830-C8F7-30A2-A0FF-0D3C4955A171}"/>
              </a:ext>
            </a:extLst>
          </p:cNvPr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8" name="二等辺三角形 10">
            <a:extLst>
              <a:ext uri="{FF2B5EF4-FFF2-40B4-BE49-F238E27FC236}">
                <a16:creationId xmlns:a16="http://schemas.microsoft.com/office/drawing/2014/main" id="{7CA36469-E82C-03FB-28E6-FE6494DBD463}"/>
              </a:ext>
            </a:extLst>
          </p:cNvPr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006663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81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6E4921-05C0-F32E-09C6-5F3707F8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12652-A579-1CEB-3506-708854E06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00873-FDA3-1622-E383-E3673E542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7E07-E2C4-CCBE-F1F4-5354C2DFE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60CCB-F93A-7A51-48BE-767B82773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0FD441-70F2-6C53-8FF0-54801A94D17B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A012F252-ED2B-0E30-2DE9-13BE1A4999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88ADC4-B5F0-A017-D528-C077628032DF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5/5/2026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396086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764" y="2492375"/>
            <a:ext cx="11021290" cy="1285298"/>
          </a:xfrm>
        </p:spPr>
        <p:txBody>
          <a:bodyPr>
            <a:noAutofit/>
          </a:bodyPr>
          <a:lstStyle/>
          <a:p>
            <a:r>
              <a:rPr lang="en-US" sz="3200" b="1">
                <a:solidFill>
                  <a:srgbClr val="292526"/>
                </a:solidFill>
                <a:latin typeface="Arial"/>
                <a:ea typeface="Calibri"/>
                <a:cs typeface="Arial"/>
              </a:rPr>
              <a:t>Transforming Financial Leasing with Machine Learning:</a:t>
            </a:r>
            <a:br>
              <a:rPr lang="en-US" sz="3200" b="1">
                <a:latin typeface="Arial"/>
                <a:ea typeface="Calibri"/>
                <a:cs typeface="Arial"/>
              </a:rPr>
            </a:br>
            <a:r>
              <a:rPr lang="en-US" sz="3200" b="1">
                <a:solidFill>
                  <a:srgbClr val="292526"/>
                </a:solidFill>
                <a:latin typeface="Arial"/>
                <a:ea typeface="Calibri"/>
                <a:cs typeface="Arial"/>
              </a:rPr>
              <a:t>Intelligent Risk Assessment and Predictive Analytics</a:t>
            </a:r>
            <a:endParaRPr lang="en-US" sz="3200" b="1">
              <a:ea typeface="Calibri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2459" y="4637717"/>
            <a:ext cx="4313446" cy="76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Segoe UI"/>
                <a:ea typeface="Calibri"/>
                <a:cs typeface="Segoe UI"/>
              </a:rPr>
              <a:t>Group ID : 25-26J-179</a:t>
            </a:r>
            <a:endParaRPr lang="en-US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US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 descr="A close up of a sign&#10;&#10;AI-generated content may be incorrect.">
            <a:extLst>
              <a:ext uri="{FF2B5EF4-FFF2-40B4-BE49-F238E27FC236}">
                <a16:creationId xmlns:a16="http://schemas.microsoft.com/office/drawing/2014/main" id="{C4BB0C29-01B6-C797-B3D4-75055D1D3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543" y="1215839"/>
            <a:ext cx="5346326" cy="12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8DDD-8CAC-912C-5CCA-6A0755E0B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263" y="-30162"/>
            <a:ext cx="3009473" cy="792162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531988-FB95-62BD-0E7D-AF70007DEBFA}"/>
              </a:ext>
            </a:extLst>
          </p:cNvPr>
          <p:cNvSpPr txBox="1"/>
          <p:nvPr/>
        </p:nvSpPr>
        <p:spPr>
          <a:xfrm>
            <a:off x="4152178" y="5819881"/>
            <a:ext cx="144898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>
                <a:latin typeface="Segoe UI"/>
                <a:ea typeface="Calibri"/>
                <a:cs typeface="Segoe UI"/>
              </a:rPr>
              <a:t>IT22129130</a:t>
            </a:r>
          </a:p>
          <a:p>
            <a:pPr algn="ctr"/>
            <a:r>
              <a:rPr lang="en-US" sz="1200" err="1">
                <a:latin typeface="Segoe UI"/>
                <a:ea typeface="Calibri"/>
                <a:cs typeface="Segoe UI"/>
              </a:rPr>
              <a:t>Maharambage</a:t>
            </a:r>
            <a:r>
              <a:rPr lang="en-US" sz="1200">
                <a:latin typeface="Segoe UI"/>
                <a:ea typeface="Calibri"/>
                <a:cs typeface="Segoe UI"/>
              </a:rPr>
              <a:t> K.N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50A643-C275-F97F-C97A-FF5EB2DCC7C5}"/>
              </a:ext>
            </a:extLst>
          </p:cNvPr>
          <p:cNvSpPr txBox="1"/>
          <p:nvPr/>
        </p:nvSpPr>
        <p:spPr>
          <a:xfrm>
            <a:off x="1532425" y="5819348"/>
            <a:ext cx="210820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IT22198518</a:t>
            </a:r>
            <a:endParaRPr lang="en-US" sz="1200">
              <a:latin typeface="Segoe UI"/>
              <a:ea typeface="Calibri"/>
              <a:cs typeface="Segoe UI"/>
            </a:endParaRPr>
          </a:p>
          <a:p>
            <a:pPr algn="ctr"/>
            <a:r>
              <a:rPr lang="en-US" sz="1200" err="1">
                <a:latin typeface="Segoe UI"/>
                <a:ea typeface="Calibri"/>
                <a:cs typeface="Segoe UI"/>
              </a:rPr>
              <a:t>Semasingha</a:t>
            </a:r>
            <a:r>
              <a:rPr lang="en-US" sz="1200">
                <a:latin typeface="Segoe UI"/>
                <a:ea typeface="Calibri"/>
                <a:cs typeface="Segoe UI"/>
              </a:rPr>
              <a:t> W.A.L.D(Leader)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AD6EC-CA38-5201-0691-D52D61F609A6}"/>
              </a:ext>
            </a:extLst>
          </p:cNvPr>
          <p:cNvSpPr txBox="1"/>
          <p:nvPr/>
        </p:nvSpPr>
        <p:spPr>
          <a:xfrm>
            <a:off x="8871999" y="5819347"/>
            <a:ext cx="118132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>
                <a:latin typeface="Segoe UI"/>
                <a:ea typeface="Calibri"/>
                <a:cs typeface="Segoe UI"/>
              </a:rPr>
              <a:t>IT22583796</a:t>
            </a:r>
          </a:p>
          <a:p>
            <a:pPr algn="ctr"/>
            <a:r>
              <a:rPr lang="en-US" sz="1200">
                <a:latin typeface="Segoe UI"/>
                <a:ea typeface="Calibri"/>
                <a:cs typeface="Segoe UI"/>
              </a:rPr>
              <a:t>Erangi M G M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EB2DDA-2BC2-DDF4-23DA-525EFE726E31}"/>
              </a:ext>
            </a:extLst>
          </p:cNvPr>
          <p:cNvSpPr txBox="1"/>
          <p:nvPr/>
        </p:nvSpPr>
        <p:spPr>
          <a:xfrm>
            <a:off x="6482989" y="5819881"/>
            <a:ext cx="1372042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>
                <a:latin typeface="Segoe UI"/>
                <a:ea typeface="Calibri"/>
                <a:cs typeface="Segoe UI"/>
              </a:rPr>
              <a:t>IT22087560</a:t>
            </a:r>
            <a:endParaRPr lang="en-US" sz="120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200" err="1">
                <a:latin typeface="Segoe UI"/>
                <a:ea typeface="Calibri"/>
                <a:cs typeface="Segoe UI"/>
              </a:rPr>
              <a:t>Weerasingh</a:t>
            </a:r>
            <a:r>
              <a:rPr lang="en-US" sz="1200">
                <a:latin typeface="Segoe UI"/>
                <a:ea typeface="Calibri"/>
                <a:cs typeface="Segoe UI"/>
              </a:rPr>
              <a:t>e M P</a:t>
            </a:r>
            <a:endParaRPr lang="en-US" sz="12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EDE27-16CC-BA38-FF36-E05EC4A172BA}"/>
              </a:ext>
            </a:extLst>
          </p:cNvPr>
          <p:cNvSpPr txBox="1"/>
          <p:nvPr/>
        </p:nvSpPr>
        <p:spPr>
          <a:xfrm>
            <a:off x="2508153" y="3040361"/>
            <a:ext cx="1604543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Project supervisor:</a:t>
            </a:r>
          </a:p>
          <a:p>
            <a:pPr algn="ctr"/>
            <a:r>
              <a:rPr lang="en-US" sz="1200" b="1">
                <a:latin typeface="Segoe UI"/>
                <a:ea typeface="Calibri"/>
                <a:cs typeface="Segoe UI"/>
              </a:rPr>
              <a:t>Mrs. Suryaa Kumari</a:t>
            </a:r>
            <a:endParaRPr lang="en-US" sz="1200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994CB1-06D8-34BB-7FEC-CE02DDD248DC}"/>
              </a:ext>
            </a:extLst>
          </p:cNvPr>
          <p:cNvSpPr txBox="1"/>
          <p:nvPr/>
        </p:nvSpPr>
        <p:spPr>
          <a:xfrm>
            <a:off x="5173501" y="2997365"/>
            <a:ext cx="1848006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Project co-supervisor:</a:t>
            </a:r>
          </a:p>
          <a:p>
            <a:pPr algn="ctr"/>
            <a:r>
              <a:rPr lang="en-US" sz="1200" b="1">
                <a:latin typeface="Segoe UI"/>
                <a:ea typeface="Calibri"/>
                <a:cs typeface="Segoe UI"/>
              </a:rPr>
              <a:t>Mrs. Dulani </a:t>
            </a:r>
            <a:r>
              <a:rPr lang="en-US" sz="1200" b="1" err="1">
                <a:latin typeface="Segoe UI"/>
                <a:ea typeface="Calibri"/>
                <a:cs typeface="Segoe UI"/>
              </a:rPr>
              <a:t>Jayasingha</a:t>
            </a:r>
            <a:endParaRPr lang="en-US" sz="1200" b="1" err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C69775-5FA7-3820-A0EA-639C596BA679}"/>
              </a:ext>
            </a:extLst>
          </p:cNvPr>
          <p:cNvSpPr txBox="1"/>
          <p:nvPr/>
        </p:nvSpPr>
        <p:spPr>
          <a:xfrm>
            <a:off x="7597567" y="3039734"/>
            <a:ext cx="2035557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External supervisor:</a:t>
            </a:r>
          </a:p>
          <a:p>
            <a:pPr algn="ctr"/>
            <a:r>
              <a:rPr lang="en-US" sz="1200" b="1">
                <a:latin typeface="Segoe UI"/>
                <a:ea typeface="Calibri"/>
                <a:cs typeface="Segoe UI"/>
              </a:rPr>
              <a:t>H.D Kapila </a:t>
            </a:r>
            <a:r>
              <a:rPr lang="en-US" sz="1200" b="1" err="1">
                <a:latin typeface="Segoe UI"/>
                <a:ea typeface="Calibri"/>
                <a:cs typeface="Segoe UI"/>
              </a:rPr>
              <a:t>Premachandra</a:t>
            </a:r>
            <a:endParaRPr lang="en-US" sz="1200" b="1" err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ctr"/>
            <a:endParaRPr lang="en-US" sz="1200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12" descr="A person standing on a stone ledge&#10;&#10;AI-generated content may be incorrect.">
            <a:extLst>
              <a:ext uri="{FF2B5EF4-FFF2-40B4-BE49-F238E27FC236}">
                <a16:creationId xmlns:a16="http://schemas.microsoft.com/office/drawing/2014/main" id="{A7D76F50-7FC5-4551-942C-C8C8ACD06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383" y="4083168"/>
            <a:ext cx="1275991" cy="1696530"/>
          </a:xfrm>
          <a:prstGeom prst="rect">
            <a:avLst/>
          </a:prstGeom>
        </p:spPr>
      </p:pic>
      <p:pic>
        <p:nvPicPr>
          <p:cNvPr id="3" name="Picture 2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91F72A0A-DF80-3D2C-1B5B-223DD119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441" y="4081189"/>
            <a:ext cx="851413" cy="1696530"/>
          </a:xfrm>
          <a:prstGeom prst="rect">
            <a:avLst/>
          </a:prstGeom>
        </p:spPr>
      </p:pic>
      <p:pic>
        <p:nvPicPr>
          <p:cNvPr id="16" name="Picture 1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606AFCDD-46BE-CFF2-B4E8-2FA789753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299" y="4076520"/>
            <a:ext cx="1343025" cy="1695450"/>
          </a:xfrm>
          <a:prstGeom prst="rect">
            <a:avLst/>
          </a:prstGeom>
        </p:spPr>
      </p:pic>
      <p:pic>
        <p:nvPicPr>
          <p:cNvPr id="19" name="Picture 18" descr="A person in a pink dress&#10;&#10;AI-generated content may be incorrect.">
            <a:extLst>
              <a:ext uri="{FF2B5EF4-FFF2-40B4-BE49-F238E27FC236}">
                <a16:creationId xmlns:a16="http://schemas.microsoft.com/office/drawing/2014/main" id="{4C5C2B08-71E2-902C-6F13-535D11A6B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432" y="1267903"/>
            <a:ext cx="1619250" cy="1619250"/>
          </a:xfrm>
          <a:prstGeom prst="rect">
            <a:avLst/>
          </a:prstGeom>
        </p:spPr>
      </p:pic>
      <p:pic>
        <p:nvPicPr>
          <p:cNvPr id="21" name="Picture 20" descr="A person in a graduation gown&#10;&#10;AI-generated content may be incorrect.">
            <a:extLst>
              <a:ext uri="{FF2B5EF4-FFF2-40B4-BE49-F238E27FC236}">
                <a16:creationId xmlns:a16="http://schemas.microsoft.com/office/drawing/2014/main" id="{E48DAC5C-F828-5606-A041-C08AA52F1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063" y="1262512"/>
            <a:ext cx="1444025" cy="1630033"/>
          </a:xfrm>
          <a:prstGeom prst="rect">
            <a:avLst/>
          </a:prstGeom>
        </p:spPr>
      </p:pic>
      <p:pic>
        <p:nvPicPr>
          <p:cNvPr id="4" name="Picture 3" descr="A person in a suit&#10;&#10;AI-generated content may be incorrect.">
            <a:extLst>
              <a:ext uri="{FF2B5EF4-FFF2-40B4-BE49-F238E27FC236}">
                <a16:creationId xmlns:a16="http://schemas.microsoft.com/office/drawing/2014/main" id="{289E5142-C5E8-C474-4EAC-2FCE9557D7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8051" y="4081397"/>
            <a:ext cx="1743207" cy="169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2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AD07-2786-CB11-44DC-4DF34D46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B0A8A9F6-85E4-1192-0DA4-9FE2B3E3A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76200"/>
            <a:ext cx="8763000" cy="531058"/>
          </a:xfrm>
        </p:spPr>
        <p:txBody>
          <a:bodyPr>
            <a:normAutofit/>
          </a:bodyPr>
          <a:lstStyle/>
          <a:p>
            <a:r>
              <a:rPr lang="en-US" sz="2400" b="1">
                <a:latin typeface="Segoe UI" panose="020B0502040204020203" pitchFamily="34" charset="0"/>
                <a:cs typeface="Segoe UI" panose="020B0502040204020203" pitchFamily="34" charset="0"/>
              </a:rPr>
              <a:t>PP2 COMMENTS &amp; ACTIONS TAKEN</a:t>
            </a:r>
            <a:endParaRPr lang="en-US" sz="2400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80EAA9-0633-D119-C241-24CA82A9C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444686"/>
              </p:ext>
            </p:extLst>
          </p:nvPr>
        </p:nvGraphicFramePr>
        <p:xfrm>
          <a:off x="533400" y="683458"/>
          <a:ext cx="11125200" cy="5432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17421197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983425417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137381141"/>
                    </a:ext>
                  </a:extLst>
                </a:gridCol>
              </a:tblGrid>
              <a:tr h="37322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Actions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7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latin typeface="Segoe UI"/>
                          <a:cs typeface="Segoe UI"/>
                        </a:rPr>
                        <a:t>Semasingha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Segoe UI"/>
                          <a:cs typeface="Segoe UI"/>
                        </a:rPr>
                        <a:t> W.A.L.D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Validate data and provide proof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Results show each model values, and they have a high difference and it seems </a:t>
                      </a: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impractial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ptos"/>
                        <a:cs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400">
                          <a:latin typeface="Segoe UI"/>
                          <a:cs typeface="Segoe UI"/>
                        </a:rPr>
                        <a:t>Tested the system with company employees.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>
                          <a:latin typeface="Segoe UI"/>
                          <a:cs typeface="Segoe UI"/>
                        </a:rPr>
                        <a:t>Fine tuned the model to give accurate values.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400" dirty="0">
                          <a:latin typeface="Segoe UI"/>
                          <a:cs typeface="Segoe UI"/>
                        </a:rPr>
                        <a:t>Made changes to view system easily for non technical people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95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Segoe UI"/>
                          <a:ea typeface="Calibri"/>
                          <a:cs typeface="Segoe UI"/>
                        </a:rPr>
                        <a:t>Maharambage</a:t>
                      </a:r>
                      <a:r>
                        <a:rPr lang="en-US" sz="1400" dirty="0">
                          <a:latin typeface="Segoe UI"/>
                          <a:ea typeface="Calibri"/>
                          <a:cs typeface="Segoe UI"/>
                        </a:rPr>
                        <a:t> K.N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Validate data and provide proof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A model comparison is done, code comprehension is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/>
                        <a:t>• 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Strong data validation pipeline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• 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Clear model comparison results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• 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Improved code understanding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• 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High accuracy stacking model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• </a:t>
                      </a:r>
                      <a:r>
                        <a:rPr lang="en-US" sz="1400" b="0" i="0" u="none" strike="noStrike" noProof="0">
                          <a:latin typeface="Aptos"/>
                        </a:rPr>
                        <a:t>Real-time prediction system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3215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>
                          <a:latin typeface="Segoe UI"/>
                          <a:ea typeface="Calibri"/>
                          <a:cs typeface="Segoe UI"/>
                        </a:rPr>
                        <a:t>Weerasinghe M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Validate data and provide proof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Results representation needs to be much clearer, it makes no sense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Code comprehension is 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Redesigned result outputs using clear     visualizations.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400" b="0" i="0" u="none" strike="noStrike" noProof="0"/>
                        <a:t>Refactored code into modular, well-structured functions.</a:t>
                      </a:r>
                      <a:endParaRPr lang="en-US" sz="14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510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Segoe UI"/>
                          <a:ea typeface="Calibri" panose="020F0502020204030204" pitchFamily="34" charset="0"/>
                          <a:cs typeface="Segoe UI"/>
                        </a:rPr>
                        <a:t>Erangi M G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Validate data and provide proof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  <a:cs typeface="Segoe UI"/>
                        </a:rPr>
                        <a:t>Could fine-tune to enhance accuracy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4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400"/>
                        <a:t>Use more data for dataset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Aptos"/>
                        </a:rPr>
                        <a:t>Proof of Validation- Photos were taken during the system check and validation session with the company supervisor as evidence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400" b="0" i="0" u="none" strike="noStrike" noProof="0"/>
                        <a:t>Real-World Testing Conducted</a:t>
                      </a:r>
                      <a:endParaRPr lang="en-US" sz="1400" b="0" i="0" u="none" strike="noStrike" noProof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75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31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BF9E-9DC7-7E73-69DC-4CC25722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8F134C2-D5B7-EF9F-6D88-E4ADB0560DF7}"/>
              </a:ext>
            </a:extLst>
          </p:cNvPr>
          <p:cNvSpPr txBox="1"/>
          <p:nvPr/>
        </p:nvSpPr>
        <p:spPr>
          <a:xfrm>
            <a:off x="1110343" y="1771844"/>
            <a:ext cx="9258135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Inaccurate risk prediction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</a:rPr>
              <a:t>Traditional methods fail to accurately predict customer default risk and financial losses.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Inefficient customer service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</a:rPr>
              <a:t>Heavy reliance on human agents causes delays and high operational costs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Lack of integrated performance analysis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</a:rPr>
              <a:t>Existing systems cannot effectively combine financial data and employee performance</a:t>
            </a:r>
            <a:endParaRPr lang="en-US" sz="1600" b="1">
              <a:ea typeface="+mn-lt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Complex impairment and ECL estimation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</a:rPr>
              <a:t>Calculating loan impairment and Expected Credit Loss</a:t>
            </a:r>
            <a:endParaRPr lang="en-US" sz="1600">
              <a:latin typeface="Aptos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9D93C-FF05-B9A4-D28C-EDF8FBA36110}"/>
              </a:ext>
            </a:extLst>
          </p:cNvPr>
          <p:cNvSpPr txBox="1"/>
          <p:nvPr/>
        </p:nvSpPr>
        <p:spPr>
          <a:xfrm>
            <a:off x="1110343" y="4190218"/>
            <a:ext cx="9078356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ea typeface="+mn-lt"/>
                <a:cs typeface="+mn-lt"/>
              </a:rPr>
              <a:t>Integrated modular architecture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Combines AI assistant, risk prediction, branch analysis and impairment modules into a single unified yet flexible system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ea typeface="+mn-lt"/>
                <a:cs typeface="+mn-lt"/>
              </a:rPr>
              <a:t>Advanced machine learning design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</a:rPr>
              <a:t>Uses ensemble models (Random Forest, </a:t>
            </a:r>
            <a:r>
              <a:rPr lang="en-US" sz="1600" err="1">
                <a:ea typeface="+mn-lt"/>
                <a:cs typeface="+mn-lt"/>
              </a:rPr>
              <a:t>XGBoost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CatBoost</a:t>
            </a:r>
            <a:r>
              <a:rPr lang="en-US" sz="1600">
                <a:ea typeface="+mn-lt"/>
                <a:cs typeface="+mn-lt"/>
              </a:rPr>
              <a:t>, stacking) for high accuracy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ea typeface="+mn-lt"/>
                <a:cs typeface="+mn-lt"/>
              </a:rPr>
              <a:t>Real-time and scalable system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 Built with </a:t>
            </a:r>
            <a:r>
              <a:rPr lang="en-US" sz="1600" err="1">
                <a:ea typeface="+mn-lt"/>
                <a:cs typeface="+mn-lt"/>
              </a:rPr>
              <a:t>FastAPI</a:t>
            </a:r>
            <a:r>
              <a:rPr lang="en-US" sz="1600">
                <a:ea typeface="+mn-lt"/>
                <a:cs typeface="+mn-lt"/>
              </a:rPr>
              <a:t> and cloud-ready technologies to support real-time processing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ea typeface="+mn-lt"/>
                <a:cs typeface="+mn-lt"/>
              </a:rPr>
              <a:t>User-centric and intelligent interaction</a:t>
            </a:r>
            <a:br>
              <a:rPr lang="en-US" sz="1600" b="1">
                <a:ea typeface="+mn-lt"/>
                <a:cs typeface="+mn-lt"/>
              </a:rPr>
            </a:b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>
                <a:ea typeface="+mn-lt"/>
                <a:cs typeface="+mn-lt"/>
              </a:rPr>
              <a:t>Multi-modal AI chatbot (text, voice, image) with RAG ensures accurate</a:t>
            </a:r>
            <a:endParaRPr lang="en-US" sz="1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D046E-5344-E7DF-BCCB-9C1C468BDF85}"/>
              </a:ext>
            </a:extLst>
          </p:cNvPr>
          <p:cNvSpPr txBox="1"/>
          <p:nvPr/>
        </p:nvSpPr>
        <p:spPr>
          <a:xfrm>
            <a:off x="871635" y="1405217"/>
            <a:ext cx="62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Problem in Brief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9BD42B-7371-2076-A3AE-A8C49707EEA8}"/>
              </a:ext>
            </a:extLst>
          </p:cNvPr>
          <p:cNvSpPr txBox="1"/>
          <p:nvPr/>
        </p:nvSpPr>
        <p:spPr>
          <a:xfrm>
            <a:off x="762000" y="3820886"/>
            <a:ext cx="62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Design Excellence of Overall Solution</a:t>
            </a: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F118654F-3DD6-58DC-C4DF-9C3C54B8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9313" y="875517"/>
            <a:ext cx="8763000" cy="531058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rgbClr val="292526"/>
                </a:solidFill>
                <a:latin typeface="Arial"/>
                <a:cs typeface="Arial"/>
              </a:rPr>
              <a:t>Intelligent Risk Assessment and Predictive Analytics</a:t>
            </a:r>
            <a:endParaRPr lang="en-US" sz="3600">
              <a:latin typeface="Arial"/>
              <a:cs typeface="Arial"/>
            </a:endParaRPr>
          </a:p>
          <a:p>
            <a:endParaRPr lang="en-US" sz="2400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5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EF5B-16F9-2F63-417E-87CDADFE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83A46E5-D5F8-F4C7-3D49-15C578EA1C1B}"/>
              </a:ext>
            </a:extLst>
          </p:cNvPr>
          <p:cNvSpPr txBox="1"/>
          <p:nvPr/>
        </p:nvSpPr>
        <p:spPr>
          <a:xfrm>
            <a:off x="1210849" y="927970"/>
            <a:ext cx="85930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>
                <a:latin typeface="Segoe UI"/>
                <a:cs typeface="Segoe UI"/>
              </a:rPr>
              <a:t>Impairment and Credit Loss Estimation</a:t>
            </a:r>
            <a:endParaRPr lang="en-US" sz="2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0A2DE-BB7F-6A3F-08AC-4A03A45284A1}"/>
              </a:ext>
            </a:extLst>
          </p:cNvPr>
          <p:cNvSpPr txBox="1"/>
          <p:nvPr/>
        </p:nvSpPr>
        <p:spPr>
          <a:xfrm>
            <a:off x="3492305" y="6550223"/>
            <a:ext cx="4656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IT22307330 | H.N.S. ABAYAWARDHANA | 25-26J-167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627DC-FB6A-E9F9-5D87-698B4CEDD9EB}"/>
              </a:ext>
            </a:extLst>
          </p:cNvPr>
          <p:cNvSpPr txBox="1"/>
          <p:nvPr/>
        </p:nvSpPr>
        <p:spPr>
          <a:xfrm>
            <a:off x="1208762" y="2183704"/>
            <a:ext cx="9220200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Predicts </a:t>
            </a:r>
            <a:r>
              <a:rPr lang="en-US" b="1">
                <a:ea typeface="+mn-lt"/>
                <a:cs typeface="+mn-lt"/>
              </a:rPr>
              <a:t>impairment amount &amp; 1-year Expected Credit Loss (ECL)</a:t>
            </a:r>
            <a:r>
              <a:rPr lang="en-US">
                <a:ea typeface="+mn-lt"/>
                <a:cs typeface="+mn-lt"/>
              </a:rPr>
              <a:t> for leasing portfolios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</a:t>
            </a:r>
            <a:r>
              <a:rPr lang="en-US" b="1">
                <a:ea typeface="+mn-lt"/>
                <a:cs typeface="+mn-lt"/>
              </a:rPr>
              <a:t>financial + behavioral data</a:t>
            </a:r>
            <a:r>
              <a:rPr lang="en-US">
                <a:ea typeface="+mn-lt"/>
                <a:cs typeface="+mn-lt"/>
              </a:rPr>
              <a:t> (arrears, payments, loan details) 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Applies </a:t>
            </a:r>
            <a:r>
              <a:rPr lang="en-US" b="1" dirty="0">
                <a:ea typeface="+mn-lt"/>
                <a:cs typeface="+mn-lt"/>
              </a:rPr>
              <a:t>advanced ML models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CatBoost</a:t>
            </a:r>
            <a:r>
              <a:rPr lang="en-US" dirty="0">
                <a:ea typeface="+mn-lt"/>
                <a:cs typeface="+mn-lt"/>
              </a:rPr>
              <a:t> selected as best performer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Achieves </a:t>
            </a:r>
            <a:r>
              <a:rPr lang="en-US" b="1">
                <a:ea typeface="+mn-lt"/>
                <a:cs typeface="+mn-lt"/>
              </a:rPr>
              <a:t>high accuracy</a:t>
            </a:r>
            <a:r>
              <a:rPr lang="en-US">
                <a:ea typeface="+mn-lt"/>
                <a:cs typeface="+mn-lt"/>
              </a:rPr>
              <a:t> (R² ≈ 0.99 impairment, 0.94 ECL) 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Identifies </a:t>
            </a:r>
            <a:r>
              <a:rPr lang="en-US" b="1" dirty="0">
                <a:ea typeface="+mn-lt"/>
                <a:cs typeface="+mn-lt"/>
              </a:rPr>
              <a:t>early credit deterioration</a:t>
            </a:r>
            <a:r>
              <a:rPr lang="en-US" dirty="0">
                <a:ea typeface="+mn-lt"/>
                <a:cs typeface="+mn-lt"/>
              </a:rPr>
              <a:t> using risk-driven features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Enables </a:t>
            </a:r>
            <a:r>
              <a:rPr lang="en-US" b="1">
                <a:ea typeface="+mn-lt"/>
                <a:cs typeface="+mn-lt"/>
              </a:rPr>
              <a:t>proactive risk management &amp; IFRS 9 compliance</a:t>
            </a:r>
            <a:endParaRPr lang="en-US"/>
          </a:p>
        </p:txBody>
      </p:sp>
      <p:pic>
        <p:nvPicPr>
          <p:cNvPr id="2" name="Picture 1" descr="A person in a suit&#10;&#10;AI-generated content may be incorrect.">
            <a:extLst>
              <a:ext uri="{FF2B5EF4-FFF2-40B4-BE49-F238E27FC236}">
                <a16:creationId xmlns:a16="http://schemas.microsoft.com/office/drawing/2014/main" id="{49257A05-1E8A-124A-CAC7-203DF5AFA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260" y="0"/>
            <a:ext cx="1784960" cy="184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8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9E69-8C6E-9AB5-81EB-5151C830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6DC975D-05CF-C2D7-68AF-C2FDBDD456AC}"/>
              </a:ext>
            </a:extLst>
          </p:cNvPr>
          <p:cNvSpPr txBox="1"/>
          <p:nvPr/>
        </p:nvSpPr>
        <p:spPr>
          <a:xfrm>
            <a:off x="1538377" y="530525"/>
            <a:ext cx="85930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>
                <a:latin typeface="Segoe UI"/>
                <a:cs typeface="Segoe UI"/>
              </a:rPr>
              <a:t>DEFAULT RISK PREDICTION</a:t>
            </a:r>
            <a:endParaRPr lang="en-US" sz="2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AEC4B-8FAC-4896-1C54-0A7A83D52253}"/>
              </a:ext>
            </a:extLst>
          </p:cNvPr>
          <p:cNvSpPr txBox="1"/>
          <p:nvPr/>
        </p:nvSpPr>
        <p:spPr>
          <a:xfrm>
            <a:off x="1213363" y="2114647"/>
            <a:ext cx="10439400" cy="3514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Predicts customer default risk using financial and behavioral data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Calculates </a:t>
            </a:r>
            <a:r>
              <a:rPr lang="en-US" b="1">
                <a:ea typeface="+mn-lt"/>
                <a:cs typeface="+mn-lt"/>
              </a:rPr>
              <a:t>Probability of Default (PD)</a:t>
            </a:r>
            <a:r>
              <a:rPr lang="en-US">
                <a:ea typeface="+mn-lt"/>
                <a:cs typeface="+mn-lt"/>
              </a:rPr>
              <a:t> for each customer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Classifies customers into </a:t>
            </a:r>
            <a:r>
              <a:rPr lang="en-US" b="1">
                <a:ea typeface="+mn-lt"/>
                <a:cs typeface="+mn-lt"/>
              </a:rPr>
              <a:t>High, Medium, and Low risk levels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Detects high-risk customers early to support proactive decision-making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Uses </a:t>
            </a:r>
            <a:r>
              <a:rPr lang="en-US" b="1">
                <a:ea typeface="+mn-lt"/>
                <a:cs typeface="+mn-lt"/>
              </a:rPr>
              <a:t>Stacking Ensemble Model (Random Forest, </a:t>
            </a:r>
            <a:r>
              <a:rPr lang="en-US" b="1" err="1">
                <a:ea typeface="+mn-lt"/>
                <a:cs typeface="+mn-lt"/>
              </a:rPr>
              <a:t>XGBoost</a:t>
            </a:r>
            <a:r>
              <a:rPr lang="en-US" b="1">
                <a:ea typeface="+mn-lt"/>
                <a:cs typeface="+mn-lt"/>
              </a:rPr>
              <a:t>, </a:t>
            </a:r>
            <a:r>
              <a:rPr lang="en-US" b="1" err="1">
                <a:ea typeface="+mn-lt"/>
                <a:cs typeface="+mn-lt"/>
              </a:rPr>
              <a:t>CatBoost</a:t>
            </a:r>
            <a:r>
              <a:rPr lang="en-US" b="1">
                <a:ea typeface="+mn-lt"/>
                <a:cs typeface="+mn-lt"/>
              </a:rPr>
              <a:t>)</a:t>
            </a:r>
          </a:p>
          <a:p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Combines multiple models to improve prediction accuracy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FBAD6A-8949-D27E-152E-3E0A396AC83F}"/>
              </a:ext>
            </a:extLst>
          </p:cNvPr>
          <p:cNvSpPr txBox="1"/>
          <p:nvPr/>
        </p:nvSpPr>
        <p:spPr>
          <a:xfrm>
            <a:off x="3492305" y="6550223"/>
            <a:ext cx="4916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IT22355614</a:t>
            </a:r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 | </a:t>
            </a:r>
            <a:r>
              <a:rPr lang="en-US" sz="14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G.G.M.U.M. HEMAWARDANA</a:t>
            </a:r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 | 25-26J-167</a:t>
            </a:r>
          </a:p>
        </p:txBody>
      </p:sp>
      <p:pic>
        <p:nvPicPr>
          <p:cNvPr id="3" name="Picture 2" descr="A person standing on a stone ledge&#10;&#10;AI-generated content may be incorrect.">
            <a:extLst>
              <a:ext uri="{FF2B5EF4-FFF2-40B4-BE49-F238E27FC236}">
                <a16:creationId xmlns:a16="http://schemas.microsoft.com/office/drawing/2014/main" id="{046D156C-E23F-853F-3F23-461AA624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930" y="230036"/>
            <a:ext cx="1275991" cy="169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6C42-3C31-B5BA-B7E4-56AD4F2C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E863F3-2052-2A67-53BC-686E7D8EDB70}"/>
              </a:ext>
            </a:extLst>
          </p:cNvPr>
          <p:cNvSpPr txBox="1"/>
          <p:nvPr/>
        </p:nvSpPr>
        <p:spPr>
          <a:xfrm>
            <a:off x="1538377" y="530525"/>
            <a:ext cx="85930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>
                <a:latin typeface="Segoe UI"/>
                <a:cs typeface="Segoe UI"/>
              </a:rPr>
              <a:t>Branch Performance Analysis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1FF31-2DCB-8AF0-FFDF-2518C197AF5E}"/>
              </a:ext>
            </a:extLst>
          </p:cNvPr>
          <p:cNvSpPr txBox="1"/>
          <p:nvPr/>
        </p:nvSpPr>
        <p:spPr>
          <a:xfrm>
            <a:off x="1213363" y="2114647"/>
            <a:ext cx="10439400" cy="36533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Analyzes and compares performance across different branches </a:t>
            </a:r>
            <a:endParaRPr lang="en-US"/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Uses machine learning models such as Random Forest,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err="1">
                <a:ea typeface="+mn-lt"/>
                <a:cs typeface="+mn-lt"/>
              </a:rPr>
              <a:t>CatBoost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Processes and cleans data to ensure accurate results </a:t>
            </a:r>
            <a:endParaRPr lang="en-US"/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Displays insights through simple dashboards and visualizations </a:t>
            </a:r>
            <a:endParaRPr lang="en-US"/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Helps decision-making by identifying high and low performing branches</a:t>
            </a:r>
            <a:endParaRPr lang="en-US"/>
          </a:p>
          <a:p>
            <a:pPr>
              <a:lnSpc>
                <a:spcPct val="150000"/>
              </a:lnSpc>
            </a:pP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A965E-226D-8470-0199-3788E3209CCC}"/>
              </a:ext>
            </a:extLst>
          </p:cNvPr>
          <p:cNvSpPr txBox="1"/>
          <p:nvPr/>
        </p:nvSpPr>
        <p:spPr>
          <a:xfrm>
            <a:off x="3492305" y="6550223"/>
            <a:ext cx="49164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IT22355614</a:t>
            </a:r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 | </a:t>
            </a:r>
            <a:r>
              <a:rPr lang="en-US" sz="14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G.G.M.U.M. HEMAWARDANA</a:t>
            </a:r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 | 25-26J-167</a:t>
            </a:r>
          </a:p>
        </p:txBody>
      </p:sp>
      <p:pic>
        <p:nvPicPr>
          <p:cNvPr id="4" name="Picture 3" descr="A person smiling at camera&#10;&#10;AI-generated content may be incorrect.">
            <a:extLst>
              <a:ext uri="{FF2B5EF4-FFF2-40B4-BE49-F238E27FC236}">
                <a16:creationId xmlns:a16="http://schemas.microsoft.com/office/drawing/2014/main" id="{0427C218-969F-9C66-82CE-74B3AF689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038" y="321737"/>
            <a:ext cx="134302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2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882B7-4823-98A1-F141-B5743BEB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323A34-4BEF-5B9A-D3B3-8C3573B86215}"/>
              </a:ext>
            </a:extLst>
          </p:cNvPr>
          <p:cNvSpPr txBox="1"/>
          <p:nvPr/>
        </p:nvSpPr>
        <p:spPr>
          <a:xfrm>
            <a:off x="1534886" y="489857"/>
            <a:ext cx="8593015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>
                <a:ea typeface="+mn-lt"/>
                <a:cs typeface="+mn-lt"/>
              </a:rPr>
              <a:t>AI-DRIVEN CONVERSATIONAL ASSISTANT FOR LEASING COMPANY CUSTOMER CARE 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3E210-1446-FA12-EDBA-BF0A6461039C}"/>
              </a:ext>
            </a:extLst>
          </p:cNvPr>
          <p:cNvSpPr txBox="1"/>
          <p:nvPr/>
        </p:nvSpPr>
        <p:spPr>
          <a:xfrm>
            <a:off x="1219200" y="2590800"/>
            <a:ext cx="9198429" cy="23952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Provide 24/7 instant customer support answers leasing-related questions quickly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Uses RAG combined with knowledge base for accurate answers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Supports text, voice and image inputs customers can interact in different ways based on their convenience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Understands and processes queries intelligently uses advanced AI (LLMs)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Escalates to human agent when needed transfers complex or sensitive queries to a real customer care officer</a:t>
            </a:r>
            <a:endParaRPr lang="en-US"/>
          </a:p>
          <a:p>
            <a:pPr>
              <a:lnSpc>
                <a:spcPct val="150000"/>
              </a:lnSpc>
            </a:pP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F97368-6F02-CB76-AFD1-0B687F7A6044}"/>
              </a:ext>
            </a:extLst>
          </p:cNvPr>
          <p:cNvSpPr txBox="1"/>
          <p:nvPr/>
        </p:nvSpPr>
        <p:spPr>
          <a:xfrm>
            <a:off x="3505200" y="6550223"/>
            <a:ext cx="584685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latin typeface="Segoe UI"/>
                <a:ea typeface="Calibri"/>
                <a:cs typeface="Segoe UI"/>
              </a:rPr>
              <a:t>IT22583796</a:t>
            </a:r>
            <a:r>
              <a:rPr lang="en-US" sz="1400" b="1">
                <a:latin typeface="Segoe UI"/>
                <a:cs typeface="Segoe UI"/>
              </a:rPr>
              <a:t> | </a:t>
            </a:r>
            <a:r>
              <a:rPr lang="en-US" sz="1400" b="1">
                <a:latin typeface="Segoe UI"/>
                <a:ea typeface="Calibri"/>
                <a:cs typeface="Segoe UI"/>
              </a:rPr>
              <a:t>Erangi M G M</a:t>
            </a:r>
            <a:r>
              <a:rPr lang="en-US" sz="1400" b="1">
                <a:latin typeface="Segoe UI"/>
                <a:cs typeface="Segoe UI"/>
              </a:rPr>
              <a:t> | 25-26J-179</a:t>
            </a:r>
          </a:p>
        </p:txBody>
      </p:sp>
      <p:pic>
        <p:nvPicPr>
          <p:cNvPr id="5" name="Picture 4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F95F7E02-782B-E705-B75D-95B587BE6E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10" b="6810"/>
          <a:stretch>
            <a:fillRect/>
          </a:stretch>
        </p:blipFill>
        <p:spPr>
          <a:xfrm>
            <a:off x="10417628" y="337457"/>
            <a:ext cx="1134189" cy="13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03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7B84-6352-30E8-F350-79AD6050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D54A63B7-A962-ECED-9ECC-F437C0127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228536"/>
            <a:ext cx="8763000" cy="531058"/>
          </a:xfrm>
        </p:spPr>
        <p:txBody>
          <a:bodyPr>
            <a:normAutofit/>
          </a:bodyPr>
          <a:lstStyle/>
          <a:p>
            <a:r>
              <a:rPr lang="en-US" sz="2400" b="1">
                <a:latin typeface="Segoe UI" panose="020B0502040204020203" pitchFamily="34" charset="0"/>
                <a:cs typeface="Segoe UI" panose="020B0502040204020203" pitchFamily="34" charset="0"/>
              </a:rPr>
              <a:t>RESULTS, TESTIMONIALS &amp; FUTURE IMPROVEMENTS</a:t>
            </a:r>
            <a:endParaRPr lang="en-US" sz="2400" b="1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B142F-EF58-AD1E-63BD-72D39B6C52BA}"/>
              </a:ext>
            </a:extLst>
          </p:cNvPr>
          <p:cNvSpPr txBox="1"/>
          <p:nvPr/>
        </p:nvSpPr>
        <p:spPr>
          <a:xfrm>
            <a:off x="990600" y="1193335"/>
            <a:ext cx="10259291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Feedback / Validation</a:t>
            </a:r>
          </a:p>
          <a:p>
            <a:endParaRPr lang="en-US" b="1">
              <a:latin typeface="Segoe UI"/>
              <a:cs typeface="Segoe UI"/>
            </a:endParaRPr>
          </a:p>
          <a:p>
            <a:endParaRPr lang="en-US">
              <a:latin typeface="Aptos" panose="02110004020202020204"/>
              <a:cs typeface="Segoe UI" panose="020B0502040204020203" pitchFamily="34" charset="0"/>
            </a:endParaRPr>
          </a:p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b="1">
              <a:latin typeface="Segoe UI"/>
              <a:cs typeface="Segoe UI"/>
            </a:endParaRPr>
          </a:p>
          <a:p>
            <a:endParaRPr lang="en-US" b="1">
              <a:latin typeface="Segoe UI"/>
              <a:cs typeface="Segoe UI"/>
            </a:endParaRPr>
          </a:p>
          <a:p>
            <a:endParaRPr lang="en-US" b="1">
              <a:latin typeface="Segoe UI"/>
              <a:cs typeface="Segoe UI"/>
            </a:endParaRPr>
          </a:p>
          <a:p>
            <a:endParaRPr lang="en-US" b="1">
              <a:latin typeface="Segoe UI"/>
              <a:cs typeface="Segoe UI"/>
            </a:endParaRPr>
          </a:p>
          <a:p>
            <a:endParaRPr lang="en-US" b="1">
              <a:latin typeface="Segoe UI"/>
              <a:cs typeface="Segoe UI"/>
            </a:endParaRPr>
          </a:p>
          <a:p>
            <a:pPr>
              <a:buNone/>
            </a:pPr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Limitations &amp; Future Improvements</a:t>
            </a:r>
          </a:p>
          <a:p>
            <a:endParaRPr lang="en-US" b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data from </a:t>
            </a:r>
            <a:r>
              <a:rPr lang="en-US" b="1" dirty="0">
                <a:ea typeface="+mn-lt"/>
                <a:cs typeface="+mn-lt"/>
              </a:rPr>
              <a:t>only one company</a:t>
            </a:r>
            <a:r>
              <a:rPr lang="en-US" dirty="0">
                <a:ea typeface="+mn-lt"/>
                <a:cs typeface="+mn-lt"/>
              </a:rPr>
              <a:t> → need more data from different sources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Doesn’t consider </a:t>
            </a:r>
            <a:r>
              <a:rPr lang="en-US" b="1" dirty="0">
                <a:ea typeface="+mn-lt"/>
                <a:cs typeface="+mn-lt"/>
              </a:rPr>
              <a:t>economic changes</a:t>
            </a:r>
            <a:r>
              <a:rPr lang="en-US" dirty="0">
                <a:ea typeface="+mn-lt"/>
                <a:cs typeface="+mn-lt"/>
              </a:rPr>
              <a:t> (like inflation, market conditions)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is </a:t>
            </a:r>
            <a:r>
              <a:rPr lang="en-US" b="1">
                <a:ea typeface="+mn-lt"/>
                <a:cs typeface="+mn-lt"/>
              </a:rPr>
              <a:t>not perfectly balanced</a:t>
            </a:r>
            <a:r>
              <a:rPr lang="en-US">
                <a:ea typeface="+mn-lt"/>
                <a:cs typeface="+mn-lt"/>
              </a:rPr>
              <a:t> → can affect prediction accuracy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System is </a:t>
            </a:r>
            <a:r>
              <a:rPr lang="en-US" b="1">
                <a:ea typeface="+mn-lt"/>
                <a:cs typeface="+mn-lt"/>
              </a:rPr>
              <a:t>not real-time</a:t>
            </a:r>
            <a:r>
              <a:rPr lang="en-US">
                <a:ea typeface="+mn-lt"/>
                <a:cs typeface="+mn-lt"/>
              </a:rPr>
              <a:t> → can be improved with live data processing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latin typeface="Aptos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4C144BED-993A-778D-36E0-BC0A7D14B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89" y="1694559"/>
            <a:ext cx="2841171" cy="1570265"/>
          </a:xfrm>
          <a:prstGeom prst="rect">
            <a:avLst/>
          </a:prstGeom>
        </p:spPr>
      </p:pic>
      <p:pic>
        <p:nvPicPr>
          <p:cNvPr id="11" name="Picture 10" descr="A computer screen with a message&#10;&#10;AI-generated content may be incorrect.">
            <a:extLst>
              <a:ext uri="{FF2B5EF4-FFF2-40B4-BE49-F238E27FC236}">
                <a16:creationId xmlns:a16="http://schemas.microsoft.com/office/drawing/2014/main" id="{D1DE4A1E-1592-208D-2153-304543731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795" y="1711493"/>
            <a:ext cx="2746862" cy="1544094"/>
          </a:xfrm>
          <a:prstGeom prst="rect">
            <a:avLst/>
          </a:prstGeom>
        </p:spPr>
      </p:pic>
      <p:pic>
        <p:nvPicPr>
          <p:cNvPr id="12" name="Picture 11" descr="A person sitting at a desk with a computer and a keyboard&#10;&#10;AI-generated content may be incorrect.">
            <a:extLst>
              <a:ext uri="{FF2B5EF4-FFF2-40B4-BE49-F238E27FC236}">
                <a16:creationId xmlns:a16="http://schemas.microsoft.com/office/drawing/2014/main" id="{23555406-6BA8-ACA1-7662-75D66A9F8E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390" r="608" b="7186"/>
          <a:stretch>
            <a:fillRect/>
          </a:stretch>
        </p:blipFill>
        <p:spPr>
          <a:xfrm>
            <a:off x="6970071" y="1199437"/>
            <a:ext cx="1863750" cy="2065678"/>
          </a:xfrm>
          <a:prstGeom prst="rect">
            <a:avLst/>
          </a:prstGeom>
        </p:spPr>
      </p:pic>
      <p:pic>
        <p:nvPicPr>
          <p:cNvPr id="13" name="Picture 12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780D0763-18F2-2C48-2C46-2564C592C2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0" b="8333"/>
          <a:stretch>
            <a:fillRect/>
          </a:stretch>
        </p:blipFill>
        <p:spPr>
          <a:xfrm>
            <a:off x="9055293" y="1196223"/>
            <a:ext cx="1568229" cy="206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1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786C-1273-73AA-2DE5-6DB340065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92EA5-05BE-4F7B-BE8F-0E09AFE5FBB1}" type="datetime1"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5A72E-6C00-5457-C0D0-A778FC45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3810445D-15CB-CD62-527F-468C35F5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77" y="824630"/>
            <a:ext cx="3692827" cy="4926904"/>
          </a:xfrm>
          <a:prstGeom prst="rect">
            <a:avLst/>
          </a:prstGeom>
        </p:spPr>
      </p:pic>
      <p:pic>
        <p:nvPicPr>
          <p:cNvPr id="7" name="Picture 6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F2EA15AF-B364-3723-FF2B-CD3F2A624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703" y="827240"/>
            <a:ext cx="3691610" cy="4937343"/>
          </a:xfrm>
          <a:prstGeom prst="rect">
            <a:avLst/>
          </a:prstGeom>
        </p:spPr>
      </p:pic>
      <p:pic>
        <p:nvPicPr>
          <p:cNvPr id="8" name="Picture 7" descr="A person sitting at a desk with a computer and a keyboard&#10;&#10;AI-generated content may be incorrect.">
            <a:extLst>
              <a:ext uri="{FF2B5EF4-FFF2-40B4-BE49-F238E27FC236}">
                <a16:creationId xmlns:a16="http://schemas.microsoft.com/office/drawing/2014/main" id="{58BF215C-FD5B-F017-D5D9-2F4794A26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490" y="829849"/>
            <a:ext cx="3712487" cy="493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1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A7E4-3001-D501-97D6-1213114E3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35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>
                <a:latin typeface="Segoe UI"/>
                <a:cs typeface="Segoe UI"/>
              </a:rPr>
              <a:t>Benchmark Tests / Accuracy / F1 Score</a:t>
            </a:r>
          </a:p>
          <a:p>
            <a:endParaRPr lang="en-US" sz="1800" b="1">
              <a:latin typeface="Segoe UI"/>
              <a:cs typeface="Segoe UI"/>
            </a:endParaRPr>
          </a:p>
          <a:p>
            <a:r>
              <a:rPr lang="en-US" sz="1800" b="1">
                <a:latin typeface="Segoe UI"/>
                <a:cs typeface="Segoe UI"/>
              </a:rPr>
              <a:t>Conference accepted and H-index = 17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09020-F893-596F-F471-61DA0BC3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085A-F059-4E24-9A05-DE1A9715BD85}" type="datetime1"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590EA-9B30-3FB5-BDE8-709A0E5D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B0CE2B-829C-3452-198B-D9AA086A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17" y="2297546"/>
            <a:ext cx="4745840" cy="348672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A9D744-6C89-39BD-0FF8-A72541FF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31" y="2294227"/>
            <a:ext cx="5242792" cy="330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9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A5271-EC27-A9DE-DE91-D88A32DF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F5537-D38A-441F-3F7A-36C9A79F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35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                                                                 Commercialization</a:t>
            </a:r>
            <a:endParaRPr lang="en-US" sz="2000" b="1">
              <a:latin typeface="Segoe UI"/>
              <a:cs typeface="Segoe UI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>
                <a:ea typeface="+mn-lt"/>
                <a:cs typeface="+mn-lt"/>
              </a:rPr>
              <a:t>Solves Real Industry Problems-Addresses key issues like </a:t>
            </a:r>
            <a:r>
              <a:rPr lang="en-US" sz="1800" b="1">
                <a:ea typeface="+mn-lt"/>
                <a:cs typeface="+mn-lt"/>
              </a:rPr>
              <a:t>loan default risk, poor customer service, and inefficient decision-making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Aptos"/>
                <a:cs typeface="Segoe UI"/>
              </a:rPr>
              <a:t> </a:t>
            </a:r>
            <a:r>
              <a:rPr lang="en-US" sz="1800">
                <a:ea typeface="+mn-lt"/>
                <a:cs typeface="+mn-lt"/>
              </a:rPr>
              <a:t>Cost Reduction &amp; Efficiency-Chatbot reduces </a:t>
            </a:r>
            <a:r>
              <a:rPr lang="en-US" sz="1800" b="1">
                <a:ea typeface="+mn-lt"/>
                <a:cs typeface="+mn-lt"/>
              </a:rPr>
              <a:t>human labor cost</a:t>
            </a:r>
            <a:r>
              <a:rPr lang="en-US" sz="1800">
                <a:ea typeface="+mn-lt"/>
                <a:cs typeface="+mn-lt"/>
              </a:rPr>
              <a:t> and response time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 dirty="0">
                <a:latin typeface="Aptos"/>
                <a:cs typeface="Segoe UI"/>
              </a:rPr>
              <a:t> </a:t>
            </a:r>
            <a:r>
              <a:rPr lang="en-US" sz="1800" dirty="0">
                <a:ea typeface="+mn-lt"/>
                <a:cs typeface="+mn-lt"/>
              </a:rPr>
              <a:t>Improves Financial Performance -Default risk model helps </a:t>
            </a:r>
            <a:r>
              <a:rPr lang="en-US" sz="1800" b="1" dirty="0">
                <a:ea typeface="+mn-lt"/>
                <a:cs typeface="+mn-lt"/>
              </a:rPr>
              <a:t>identify high-risk customers early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800">
                <a:ea typeface="+mn-lt"/>
                <a:cs typeface="+mn-lt"/>
              </a:rPr>
              <a:t>Supports Decision Making - Helps in </a:t>
            </a:r>
            <a:r>
              <a:rPr lang="en-US" sz="1800" b="1">
                <a:ea typeface="+mn-lt"/>
                <a:cs typeface="+mn-lt"/>
              </a:rPr>
              <a:t>better resource allocation and branch performance improvement</a:t>
            </a:r>
            <a:endParaRPr lang="en-US" sz="1800">
              <a:cs typeface="Segoe UI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User-Friendly System - Easy-to-use interface for </a:t>
            </a:r>
            <a:r>
              <a:rPr lang="en-US" sz="1800" b="1">
                <a:ea typeface="+mn-lt"/>
                <a:cs typeface="+mn-lt"/>
              </a:rPr>
              <a:t>non-technical staff</a:t>
            </a:r>
            <a:endParaRPr lang="en-US" sz="1800" b="1" dirty="0">
              <a:latin typeface="Aptos"/>
              <a:cs typeface="Segoe UI"/>
            </a:endParaRPr>
          </a:p>
          <a:p>
            <a:pPr marL="0" indent="0">
              <a:buNone/>
            </a:pPr>
            <a:endParaRPr lang="en-US" sz="1800" b="1" dirty="0">
              <a:latin typeface="Segoe UI"/>
              <a:cs typeface="Segoe U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EAC7-0FE0-8F1B-77C8-E141E1C98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4085A-F059-4E24-9A05-DE1A9715BD85}" type="datetime1">
              <a:t>5/5/2026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A633E-5B1C-137B-242E-133CDE53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04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7C17-B0E6-DCC4-A330-BD972189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BC22-DE8F-0C2D-30C5-7BD8E416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432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THANK YOU ! </a:t>
            </a:r>
          </a:p>
        </p:txBody>
      </p:sp>
    </p:spTree>
    <p:extLst>
      <p:ext uri="{BB962C8B-B14F-4D97-AF65-F5344CB8AC3E}">
        <p14:creationId xmlns:p14="http://schemas.microsoft.com/office/powerpoint/2010/main" val="199269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3" ma:contentTypeDescription="Create a new document." ma:contentTypeScope="" ma:versionID="ccf6c9d1568071c4329e3bd442dd6fe1">
  <xsd:schema xmlns:xsd="http://www.w3.org/2001/XMLSchema" xmlns:xs="http://www.w3.org/2001/XMLSchema" xmlns:p="http://schemas.microsoft.com/office/2006/metadata/properties" xmlns:ns2="b315195e-671e-423b-bef2-4f1205612242" targetNamespace="http://schemas.microsoft.com/office/2006/metadata/properties" ma:root="true" ma:fieldsID="46bb12e2fbe9e946652203aac830fb08" ns2:_="">
    <xsd:import namespace="b315195e-671e-423b-bef2-4f12056122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A5BEC3-828E-4ECA-B913-7586DC9633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36D75C-9F14-4A86-98E6-147B8D85A8C0}">
  <ds:schemaRefs>
    <ds:schemaRef ds:uri="b315195e-671e-423b-bef2-4f12056122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A9067F2-C66C-489F-B56A-164BE45AEB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Transforming Financial Leasing with Machine Learning: Intelligent Risk Assessment and Predictive Analytics</vt:lpstr>
      <vt:lpstr>OUR TEAM</vt:lpstr>
      <vt:lpstr>PP2 COMMENTS &amp; ACTIONS TAKEN</vt:lpstr>
      <vt:lpstr>Intelligent Risk Assessment and Predictive Analytics </vt:lpstr>
      <vt:lpstr>PowerPoint Presentation</vt:lpstr>
      <vt:lpstr>PowerPoint Presentation</vt:lpstr>
      <vt:lpstr>PowerPoint Presentation</vt:lpstr>
      <vt:lpstr>PowerPoint Presentation</vt:lpstr>
      <vt:lpstr>RESULTS, TESTIMONIALS &amp; FUTURE IMPROVEMENTS</vt:lpstr>
      <vt:lpstr>PowerPoint Presentation</vt:lpstr>
      <vt:lpstr>PowerPoint Presentation</vt:lpstr>
      <vt:lpstr>PowerPoint Presentation</vt:lpstr>
      <vt:lpstr>THANK YOU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HEMAWARDANA G.G.M.U.M. it22355614</dc:creator>
  <cp:revision>46</cp:revision>
  <dcterms:created xsi:type="dcterms:W3CDTF">2025-08-31T11:31:49Z</dcterms:created>
  <dcterms:modified xsi:type="dcterms:W3CDTF">2026-05-05T18:33:57Z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